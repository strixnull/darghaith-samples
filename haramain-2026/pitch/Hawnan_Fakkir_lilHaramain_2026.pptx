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1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006868"/>
                </a:solidFill>
                <a:latin typeface="Arial"/>
              </a:defRPr>
            </a:pPr>
            <a:r>
              <a:rPr sz="1200" b="0" i="0" u="none" strike="noStrike">
                <a:solidFill>
                  <a:srgbClr val="006868"/>
                </a:solidFill>
                <a:latin typeface="Arial"/>
              </a:rPr>
              <a:t>مؤشر أحداث الضغط عند نقاط الفرز (الأساس = 100)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مؤشر أحداث الضغط</c:v>
                </c:pt>
              </c:strCache>
            </c:strRef>
          </c:tx>
          <c:spPr>
            <a:solidFill>
              <a:srgbClr val="006868"/>
            </a:solidFill>
            <a:effectLst/>
          </c:spPr>
          <c:invertIfNegative val="0"/>
          <c:dPt>
            <c:idx val="2"/>
            <c:invertIfNegative val="0"/>
            <c:bubble3D val="0"/>
            <c:spPr>
              <a:solidFill>
                <a:srgbClr val="C9A24D"/>
              </a:solidFill>
            </c:spPr>
          </c:dPt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0202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3 تحققات</c:v>
                  </c:pt>
                  <c:pt idx="1">
                    <c:v>تحقق واحد</c:v>
                  </c:pt>
                  <c:pt idx="2">
                    <c:v>نوافذ متدرجة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100</c:v>
                </c:pt>
                <c:pt idx="1">
                  <c:v>55</c:v>
                </c:pt>
                <c:pt idx="2">
                  <c:v>38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0202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7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0506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20"/>
          <c:min val="0"/>
        </c:scaling>
        <c:delete val="0"/>
        <c:axPos val="l"/>
        <c:majorGridlines>
          <c:spPr>
            <a:ln w="6350" cap="flat">
              <a:solidFill>
                <a:srgbClr val="DCE8E4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0506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  <c:majorUnit val="30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1" algn="r"/>
            <a:r>
              <a:rPr lang="ar-SA" altLang="en-US" sz="1400" dirty="0">
                <a:latin typeface="Arial"/>
                <a:cs typeface="Arial"/>
              </a:rPr>
              <a:t>[0:00–0:25]</a:t>
            </a:r>
          </a:p>
          <a:p>
            <a:pPr rtl="1" algn="r"/>
            <a:r>
              <a:rPr lang="ar-SA" altLang="en-US" sz="1400" dirty="0">
                <a:latin typeface="Arial"/>
                <a:cs typeface="Arial"/>
              </a:rPr>
              <a:t>السلام عليكم. نحن فريق رؤية بلس من المدينة المنورة، ومشروعنا «هَوْنًا إلى الروضة».</a:t>
            </a:r>
          </a:p>
          <a:p>
            <a:pPr rtl="1" algn="r"/>
            <a:r>
              <a:rPr lang="ar-SA" altLang="en-US" sz="1400" dirty="0">
                <a:latin typeface="Arial"/>
                <a:cs typeface="Arial"/>
              </a:rPr>
              <a:t>كل يوم يصدر نحو 50,000 تصريح لزيارة الروضة الشريفة. الضيف يعرف موعده، ولا يعرف شيئاً بعده.</a:t>
            </a:r>
          </a:p>
          <a:p>
            <a:pPr rtl="1" algn="r"/>
            <a:r>
              <a:rPr lang="ar-SA" altLang="en-US" sz="1400" dirty="0">
                <a:latin typeface="Arial"/>
                <a:cs typeface="Arial"/>
              </a:rPr>
              <a:t>نحن نغطي ما بعده: من لحظة صدور التصريح حتى باب الروضة، بطبقة ميدانية صامتة تملكها الهيئة ولا تلمس نسك.</a:t>
            </a:r>
          </a:p>
          <a:p>
            <a:pPr rtl="1" algn="r"/>
            <a:r>
              <a:rPr lang="ar-SA" altLang="en-US" sz="1400" dirty="0">
                <a:latin typeface="Arial"/>
                <a:cs typeface="Arial"/>
              </a:rPr>
              <a:t>كل ما سترونه اليوم يعمل دون اتصال بالإنترنت.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1" algn="r"/>
            <a:r>
              <a:rPr lang="ar-SA" altLang="en-US" sz="1400" dirty="0">
                <a:latin typeface="Arial"/>
                <a:cs typeface="Arial"/>
              </a:rPr>
              <a:t>[0:25–0:50]</a:t>
            </a:r>
          </a:p>
          <a:p>
            <a:pPr rtl="1" algn="r"/>
            <a:r>
              <a:rPr lang="ar-SA" altLang="en-US" sz="1400" dirty="0">
                <a:latin typeface="Arial"/>
                <a:cs typeface="Arial"/>
              </a:rPr>
              <a:t>الأرقام من نص التحدي نفسه: 50,000 تصريح يومياً، 48,000 زائر، ومتوسط انتظار 20 دقيقة قبل الدخول.</a:t>
            </a:r>
          </a:p>
          <a:p>
            <a:pPr rtl="1" algn="r"/>
            <a:r>
              <a:rPr lang="ar-SA" altLang="en-US" sz="1400" dirty="0">
                <a:latin typeface="Arial"/>
                <a:cs typeface="Arial"/>
              </a:rPr>
              <a:t>مساحة الروضة ثابتة، فلن نعد بتقصير الانتظار. المشكلة في نوعية الانتظار:</a:t>
            </a:r>
          </a:p>
          <a:p>
            <a:pPr rtl="1" algn="r"/>
            <a:r>
              <a:rPr lang="ar-SA" altLang="en-US" sz="1400" dirty="0">
                <a:latin typeface="Arial"/>
                <a:cs typeface="Arial"/>
              </a:rPr>
              <a:t>الضيف لا يعرف بوابته ولا نقطة تجمعه ولا كم بقي على دوره، ولا يفهم تعليمات الكوادر بلغته، فيتحول الانتظار إلى ترقب متوتر يدفع إلى التزاحم.</a:t>
            </a:r>
          </a:p>
          <a:p>
            <a:pPr rtl="1" algn="r"/>
            <a:r>
              <a:rPr lang="ar-SA" altLang="en-US" sz="1400" dirty="0">
                <a:latin typeface="Arial"/>
                <a:cs typeface="Arial"/>
              </a:rPr>
              <a:t>صوت الضيف في الملف الرسمي يقولها بكلماته: «وين نلاقي المسار الفوري؟»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1" algn="r"/>
            <a:r>
              <a:rPr lang="ar-SA" altLang="en-US" sz="1400" dirty="0">
                <a:latin typeface="Arial"/>
                <a:cs typeface="Arial"/>
              </a:rPr>
              <a:t>[0:50–1:15]</a:t>
            </a:r>
          </a:p>
          <a:p>
            <a:pPr rtl="1" algn="r"/>
            <a:r>
              <a:rPr lang="ar-SA" altLang="en-US" sz="1400" dirty="0">
                <a:latin typeface="Arial"/>
                <a:cs typeface="Arial"/>
              </a:rPr>
              <a:t>هذه سيتي، 68 عاماً، إندونيسية، لا تتحدث العربية، ومعها تصريح نسك صحيح.</a:t>
            </a:r>
          </a:p>
          <a:p>
            <a:pPr rtl="1" algn="r"/>
            <a:r>
              <a:rPr lang="ar-SA" altLang="en-US" sz="1400" dirty="0">
                <a:latin typeface="Arial"/>
                <a:cs typeface="Arial"/>
              </a:rPr>
              <a:t>رحلتها اليوم ثلاث مراحل: الوصول عبر الساحات، الانتظار عند نقطة الفرز، ثم الدخول. وفي كل مرحلة مجهول: أين أذهب؟ متى دوري؟ ماذا يقول المشرف؟</a:t>
            </a:r>
          </a:p>
          <a:p>
            <a:pPr rtl="1" algn="r"/>
            <a:r>
              <a:rPr lang="ar-SA" altLang="en-US" sz="1400" dirty="0">
                <a:latin typeface="Arial"/>
                <a:cs typeface="Arial"/>
              </a:rPr>
              <a:t>والملف الرسمي يحدد سبباً مباشراً لنقاط الضغط: تفاوت سرعة التحقق من التصاريح، لأن التصريح يُقرأ 2 إلى 3 مرات في الطريق.</a:t>
            </a:r>
          </a:p>
          <a:p>
            <a:pPr rtl="1" algn="r"/>
            <a:r>
              <a:rPr lang="ar-SA" altLang="en-US" sz="1400" dirty="0">
                <a:latin typeface="Arial"/>
                <a:cs typeface="Arial"/>
              </a:rPr>
              <a:t>هذا هو الصندوق الأسود الذي نفتحه: ما بين رمز QR وباب الروضة.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1" algn="r"/>
            <a:r>
              <a:rPr lang="ar-SA" altLang="en-US" sz="1400" dirty="0">
                <a:latin typeface="Arial"/>
                <a:cs typeface="Arial"/>
              </a:rPr>
              <a:t>[1:15–1:45]</a:t>
            </a:r>
          </a:p>
          <a:p>
            <a:pPr rtl="1" algn="r"/>
            <a:r>
              <a:rPr lang="ar-SA" altLang="en-US" sz="1400" dirty="0">
                <a:latin typeface="Arial"/>
                <a:cs typeface="Arial"/>
              </a:rPr>
              <a:t>الحل في مشهد واحد، أربع خطوات.</a:t>
            </a:r>
          </a:p>
          <a:p>
            <a:pPr rtl="1" algn="r"/>
            <a:r>
              <a:rPr lang="ar-SA" altLang="en-US" sz="1400" dirty="0">
                <a:latin typeface="Arial"/>
                <a:cs typeface="Arial"/>
              </a:rPr>
              <a:t>قبل 24 ساعة تصل رسالة الرحلة بلغة سيتي: البوابة ونقطة التجمع بالصور ووقت الانطلاق الذي يناسب كبار السن.</a:t>
            </a:r>
          </a:p>
          <a:p>
            <a:pPr rtl="1" algn="r"/>
            <a:r>
              <a:rPr lang="ar-SA" altLang="en-US" sz="1400" dirty="0">
                <a:latin typeface="Arial"/>
                <a:cs typeface="Arial"/>
              </a:rPr>
              <a:t>عند نقطة الفرز تحقق واحد فقط، ثم ختم صامت: تصريح فوج موقّع رقمياً يُتحقق منه دون اتصال في زمن ثابت.</a:t>
            </a:r>
          </a:p>
          <a:p>
            <a:pPr rtl="1" algn="r"/>
            <a:r>
              <a:rPr lang="ar-SA" altLang="en-US" sz="1400" dirty="0">
                <a:latin typeface="Arial"/>
                <a:cs typeface="Arial"/>
              </a:rPr>
              <a:t>في الانتظار بطاقة تعرض رقم فوجها ومدى زمنياً صادقاً وتعليمة المشرف مترجمة، وبطاقات «أرني» تحملها للموظف.</a:t>
            </a:r>
          </a:p>
          <a:p>
            <a:pPr rtl="1" algn="r"/>
            <a:r>
              <a:rPr lang="ar-SA" altLang="en-US" sz="1400" dirty="0">
                <a:latin typeface="Arial"/>
                <a:cs typeface="Arial"/>
              </a:rPr>
              <a:t>والمشرف يرسل نداءً صامتاً بضغطة واحدة إلى كل الهواتف والشاشات بعشر لغات، بلا مكبرات صوت.</a:t>
            </a:r>
          </a:p>
          <a:p>
            <a:pPr rtl="1" algn="r"/>
            <a:r>
              <a:rPr lang="ar-SA" altLang="en-US" sz="1400" dirty="0">
                <a:latin typeface="Arial"/>
                <a:cs typeface="Arial"/>
              </a:rPr>
              <a:t>كل هذا على محرك واحد داخل منظومة التفويج القائمة لدى الهيئة، ولا يلمس نسك.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1" algn="r"/>
            <a:r>
              <a:rPr lang="ar-SA" altLang="en-US" sz="1400" dirty="0">
                <a:latin typeface="Arial"/>
                <a:cs typeface="Arial"/>
              </a:rPr>
              <a:t>[1:45–2:10]</a:t>
            </a:r>
          </a:p>
          <a:p>
            <a:pPr rtl="1" algn="r"/>
            <a:r>
              <a:rPr lang="ar-SA" altLang="en-US" sz="1400" dirty="0">
                <a:latin typeface="Arial"/>
                <a:cs typeface="Arial"/>
              </a:rPr>
              <a:t>أين الابتكار؟</a:t>
            </a:r>
          </a:p>
          <a:p>
            <a:pPr rtl="1" algn="r"/>
            <a:r>
              <a:rPr lang="ar-SA" altLang="en-US" sz="1400" dirty="0">
                <a:latin typeface="Arial"/>
                <a:cs typeface="Arial"/>
              </a:rPr>
              <a:t>أولاً: الطمأنة أداة لسلامة الحشود. لا نقصّر انتظاراً محكوماً بالطاقة الاستيعابية، بل نزيل المجهولات الثلاثة التي يحددها الملف سبباً للتدافع.</a:t>
            </a:r>
          </a:p>
          <a:p>
            <a:pPr rtl="1" algn="r"/>
            <a:r>
              <a:rPr lang="ar-SA" altLang="en-US" sz="1400" dirty="0">
                <a:latin typeface="Arial"/>
                <a:cs typeface="Arial"/>
              </a:rPr>
              <a:t>ثانياً: تحقق واحد وتحرك بالفوج، بدل تحققات متكررة متفاوتة السرعة.</a:t>
            </a:r>
          </a:p>
          <a:p>
            <a:pPr rtl="1" algn="r"/>
            <a:r>
              <a:rPr lang="ar-SA" altLang="en-US" sz="1400" dirty="0">
                <a:latin typeface="Arial"/>
                <a:cs typeface="Arial"/>
              </a:rPr>
              <a:t>ثالثاً: جسر لغوي صامت في الاتجاهين، من المشرف للضيف ومن الضيف للمشرف، بلا ترجمة فورية ولا نموذج لغوي وقت التشغيل.</a:t>
            </a:r>
          </a:p>
          <a:p>
            <a:pPr rtl="1" algn="r"/>
            <a:r>
              <a:rPr lang="ar-SA" altLang="en-US" sz="1400" dirty="0">
                <a:latin typeface="Arial"/>
                <a:cs typeface="Arial"/>
              </a:rPr>
              <a:t>رابعاً: محرك واحد وساعتان. ساعة الفوج الحية والتوأم الرقمي من الكود نفسه، فكل رقم نعرضه يمكن للجنة فحصه.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1" algn="r"/>
            <a:r>
              <a:rPr lang="ar-SA" altLang="en-US" sz="1400" dirty="0">
                <a:latin typeface="Arial"/>
                <a:cs typeface="Arial"/>
              </a:rPr>
              <a:t>[2:10–2:50] العرض الحي، والحاسوب يبث نقطة اتصال محلية بلا إنترنت.</a:t>
            </a:r>
          </a:p>
          <a:p>
            <a:pPr rtl="1" algn="r"/>
            <a:r>
              <a:rPr lang="ar-SA" altLang="en-US" sz="1400" dirty="0">
                <a:latin typeface="Arial"/>
                <a:cs typeface="Arial"/>
              </a:rPr>
              <a:t>الهاتف الأول بالإندونيسية: تصل رسالة الرحلة لسيتي، بالصور والبوابة ونقطة التجمع.</a:t>
            </a:r>
          </a:p>
          <a:p>
            <a:pPr rtl="1" algn="r"/>
            <a:r>
              <a:rPr lang="ar-SA" altLang="en-US" sz="1400" dirty="0">
                <a:latin typeface="Arial"/>
                <a:cs typeface="Arial"/>
              </a:rPr>
              <a:t>عند نقطة الفرز أمسح تصريح نسك المحاكى، وهو معلن أنه محاكاة، مرة واحدة، فيظهر تصريح الفوج الموقّع على هاتفها ويُطبع ورقياً. أمسح الورقة بهاتف الموظف: تحقق دون اتصال في زمن ثابت.</a:t>
            </a:r>
          </a:p>
          <a:p>
            <a:pPr rtl="1" algn="r"/>
            <a:r>
              <a:rPr lang="ar-SA" altLang="en-US" sz="1400" dirty="0">
                <a:latin typeface="Arial"/>
                <a:cs typeface="Arial"/>
              </a:rPr>
              <a:t>بطاقة الانتظار: الفوج 14، نحو 12 إلى 18 دقيقة، والتعليمة الحالية «الرجاء الجلوس» بالإندونيسية مع رمز تصويري.</a:t>
            </a:r>
          </a:p>
          <a:p>
            <a:pPr rtl="1" algn="r"/>
            <a:r>
              <a:rPr lang="ar-SA" altLang="en-US" sz="1400" dirty="0">
                <a:latin typeface="Arial"/>
                <a:cs typeface="Arial"/>
              </a:rPr>
              <a:t>أضغط على الجهاز اللوحي «تقدموا بهدوء»، فتتغير الشاشة والهاتفان، بالإندونيسية والأردية، في الثانية نفسها، بصمت. وأرفع بطاقة «أرني»: «فقدت مجموعتي».</a:t>
            </a:r>
          </a:p>
          <a:p>
            <a:pPr rtl="1" algn="r"/>
            <a:r>
              <a:rPr lang="ar-SA" altLang="en-US" sz="1400" dirty="0">
                <a:latin typeface="Arial"/>
                <a:cs typeface="Arial"/>
              </a:rPr>
              <a:t>قبل 10 دقائق تظهر بطاقة التهيئة من محتوى الهيئة، ثم لا شيء على الشاشة داخل الروضة.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1" algn="r"/>
            <a:r>
              <a:rPr lang="ar-SA" altLang="en-US" sz="1400" dirty="0">
                <a:latin typeface="Arial"/>
                <a:cs typeface="Arial"/>
              </a:rPr>
              <a:t>[2:50–3:20]</a:t>
            </a:r>
          </a:p>
          <a:p>
            <a:pPr rtl="1" algn="r"/>
            <a:r>
              <a:rPr lang="ar-SA" altLang="en-US" sz="1400" dirty="0">
                <a:latin typeface="Arial"/>
                <a:cs typeface="Arial"/>
              </a:rPr>
              <a:t>غرفة القرار ترى إشغال كل نقطة انتظار وتدفق التحقق وتنبيه التباطؤ، من أحداث الأفواج فقط، بلا كاميرات ولا بيانات شخصية.</a:t>
            </a:r>
          </a:p>
          <a:p>
            <a:pPr rtl="1" algn="r"/>
            <a:r>
              <a:rPr lang="ar-SA" altLang="en-US" sz="1400" dirty="0">
                <a:latin typeface="Arial"/>
                <a:cs typeface="Arial"/>
              </a:rPr>
              <a:t>والمحرك نفسه يشغّل التوأم الرقمي: يوم كامل من 50,000 تصريح، ثلاثة تحققات مقابل تحقق واحد مقابل نوافذ وصول متدرجة.</a:t>
            </a:r>
          </a:p>
          <a:p>
            <a:pPr rtl="1" algn="r"/>
            <a:r>
              <a:rPr lang="ar-SA" altLang="en-US" sz="1400" dirty="0">
                <a:latin typeface="Arial"/>
                <a:cs typeface="Arial"/>
              </a:rPr>
              <a:t>ما ترونه في الرسم أرقام توضيحية، لا نتيجة نهائية: التوأم يُعاير بقياسات ميدانية حقيقية من المسجد النبوي في المرحلة صفر، والأرقام تُقاس ولا تُفترض.</a:t>
            </a:r>
          </a:p>
          <a:p>
            <a:pPr rtl="1" algn="r"/>
            <a:r>
              <a:rPr lang="ar-SA" altLang="en-US" sz="1400" dirty="0">
                <a:latin typeface="Arial"/>
                <a:cs typeface="Arial"/>
              </a:rPr>
              <a:t>المهم أن الرقم يخرج من المحرك نفسه الذي شغّل الهاتف قبل دقيقة.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1" algn="r"/>
            <a:r>
              <a:rPr lang="ar-SA" altLang="en-US" sz="1400" dirty="0">
                <a:latin typeface="Arial"/>
                <a:cs typeface="Arial"/>
              </a:rPr>
              <a:t>[3:20–3:45]</a:t>
            </a:r>
          </a:p>
          <a:p>
            <a:pPr rtl="1" algn="r"/>
            <a:r>
              <a:rPr lang="ar-SA" altLang="en-US" sz="1400" dirty="0">
                <a:latin typeface="Arial"/>
                <a:cs typeface="Arial"/>
              </a:rPr>
              <a:t>خطة التجربة مع الهيئة: نقطة انتظار واحدة، أسبوع واحد، فوج مقابل فوج، بمؤشرات معلنة مسبقاً.</a:t>
            </a:r>
          </a:p>
          <a:p>
            <a:pPr rtl="1" algn="r"/>
            <a:r>
              <a:rPr lang="ar-SA" altLang="en-US" sz="1400" dirty="0">
                <a:latin typeface="Arial"/>
                <a:cs typeface="Arial"/>
              </a:rPr>
              <a:t>وبصراحة: الحقيقي هو المحرك والتصريح الموقّع والنداء الصامت والمؤشرات والتوأم، كود يعمل ومختبَر.</a:t>
            </a:r>
          </a:p>
          <a:p>
            <a:pPr rtl="1" algn="r"/>
            <a:r>
              <a:rPr lang="ar-SA" altLang="en-US" sz="1400" dirty="0">
                <a:latin typeface="Arial"/>
                <a:cs typeface="Arial"/>
              </a:rPr>
              <a:t>المحاكاة المعلنة هي مصدر أوقات التصاريح خلف واجهة تكامل، وأزمنة المراحل قبل القياس الميداني.</a:t>
            </a:r>
          </a:p>
          <a:p>
            <a:pPr rtl="1" algn="r"/>
            <a:r>
              <a:rPr lang="ar-SA" altLang="en-US" sz="1400" dirty="0">
                <a:latin typeface="Arial"/>
                <a:cs typeface="Arial"/>
              </a:rPr>
              <a:t>وما يحتاج الهيئة: صياغة «موعدك محفوظ» وسياسة إعادة التفويج، ونصوص الآداب من منشوراتها فقط.</a:t>
            </a:r>
          </a:p>
          <a:p>
            <a:pPr rtl="1" algn="r"/>
            <a:r>
              <a:rPr lang="ar-SA" altLang="en-US" sz="1400" dirty="0">
                <a:latin typeface="Arial"/>
                <a:cs typeface="Arial"/>
              </a:rPr>
              <a:t>هذا نموذج أولي لهاكاثون، لا منتج رسمي للهيئة.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1" algn="r"/>
            <a:r>
              <a:rPr lang="ar-SA" altLang="en-US" sz="1400" dirty="0">
                <a:latin typeface="Arial"/>
                <a:cs typeface="Arial"/>
              </a:rPr>
              <a:t>[3:45–4:00]</a:t>
            </a:r>
          </a:p>
          <a:p>
            <a:pPr rtl="1" algn="r"/>
            <a:r>
              <a:rPr lang="ar-SA" altLang="en-US" sz="1400" dirty="0">
                <a:latin typeface="Arial"/>
                <a:cs typeface="Arial"/>
              </a:rPr>
              <a:t>أنا عبدالعزيز حجار، طالب أمن سيبراني في جامعة الأمير مقرن بالمدينة المنورة، قدت فريق «رؤية بلس» في هاكاثون أمد 2026، ومعي فريق من 4 أعضاء بينهم عضوة تقود دراسة مسار النساء.</a:t>
            </a:r>
          </a:p>
          <a:p>
            <a:pPr rtl="1" algn="r"/>
            <a:r>
              <a:rPr lang="ar-SA" altLang="en-US" sz="1400" dirty="0">
                <a:latin typeface="Arial"/>
                <a:cs typeface="Arial"/>
              </a:rPr>
              <a:t>نقيم في المدينة، ونرصد نقاط الفرز يومياً، ونختبر النموذج مع الزوار في الساحات.</a:t>
            </a:r>
          </a:p>
          <a:p>
            <a:pPr rtl="1" algn="r"/>
            <a:r>
              <a:rPr lang="ar-SA" altLang="en-US" sz="1400" dirty="0">
                <a:latin typeface="Arial"/>
                <a:cs typeface="Arial"/>
              </a:rPr>
              <a:t>نحتاج من الهيئة ثلاثة أشياء: إذن رصد ميداني، نقطة انتظار واحدة لأسبوع، واعتماد صياغة الرسائل.</a:t>
            </a:r>
          </a:p>
          <a:p>
            <a:pPr rtl="1" algn="r"/>
            <a:r>
              <a:rPr lang="ar-SA" altLang="en-US" sz="1400" dirty="0">
                <a:latin typeface="Arial"/>
                <a:cs typeface="Arial"/>
              </a:rPr>
              <a:t>موعدك محفوظ، فامشِ إليه هونًا. شكراً لكم.</a:t>
            </a:r>
          </a:p>
          <a:p>
            <a:pPr rtl="1" algn="r"/>
          </a:p>
          <a:p>
            <a:pPr rtl="1" algn="r"/>
            <a:r>
              <a:rPr lang="ar-SA" altLang="en-US" sz="1400" dirty="0">
                <a:latin typeface="Arial"/>
                <a:cs typeface="Arial"/>
              </a:rPr>
              <a:t>===== أسئلة متوقعة من اللجنة =====</a:t>
            </a:r>
          </a:p>
          <a:p>
            <a:pPr rtl="1" algn="r"/>
            <a:r>
              <a:rPr lang="ar-SA" altLang="en-US" sz="1400" dirty="0">
                <a:latin typeface="Arial"/>
                <a:cs typeface="Arial"/>
              </a:rPr>
              <a:t>1) هل تعتمدون على نسك؟</a:t>
            </a:r>
          </a:p>
          <a:p>
            <a:pPr rtl="1" algn="r"/>
            <a:r>
              <a:rPr lang="ar-SA" altLang="en-US" sz="1400" dirty="0">
                <a:latin typeface="Arial"/>
                <a:cs typeface="Arial"/>
              </a:rPr>
              <a:t>لا. التسجيل عبر ملصقات QR عند نقاط الانتظار وقوائم المشغلين وبطاقات الفنادق. الهيئة تملك الطبقة الميدانية وتجرّبها وحدها، والربط بنسك تكامل لاحق خلف واجهة PermitFeed، وهو محاكاة معلنة اليوم.</a:t>
            </a:r>
          </a:p>
          <a:p>
            <a:pPr rtl="1" algn="r"/>
            <a:r>
              <a:rPr lang="ar-SA" altLang="en-US" sz="1400" dirty="0">
                <a:latin typeface="Arial"/>
                <a:cs typeface="Arial"/>
              </a:rPr>
              <a:t>2) وجلال المكان؟</a:t>
            </a:r>
          </a:p>
          <a:p>
            <a:pPr rtl="1" algn="r"/>
            <a:r>
              <a:rPr lang="ar-SA" altLang="en-US" sz="1400" dirty="0">
                <a:latin typeface="Arial"/>
                <a:cs typeface="Arial"/>
              </a:rPr>
              <a:t>كل المحتوى ينتهي قبل الباب. لا صوت ولا أضواء ولا تلعيب. البطاقة تُعتم داخل الروضة. النصوص من منشورات الهيئة فقط. الحل يزيل مكبرات الصوت والحواجز الإضافية بدل أن يضيف أجهزة.</a:t>
            </a:r>
          </a:p>
          <a:p>
            <a:pPr rtl="1" algn="r"/>
            <a:r>
              <a:rPr lang="ar-SA" altLang="en-US" sz="1400" dirty="0">
                <a:latin typeface="Arial"/>
                <a:cs typeface="Arial"/>
              </a:rPr>
              <a:t>3) مسار النساء؟</a:t>
            </a:r>
          </a:p>
          <a:p>
            <a:pPr rtl="1" algn="r"/>
            <a:r>
              <a:rPr lang="ar-SA" altLang="en-US" sz="1400" dirty="0">
                <a:latin typeface="Arial"/>
                <a:cs typeface="Arial"/>
              </a:rPr>
              <a:t>عضوة في الفريق تقود دراسة مسار النساء: مقابلات وأزمنة منفصلة، وبطاقة «أريد موظفة» ضمن بطاقات «أرني»، ونقاط انتظار النساء تُقاس على حدة.</a:t>
            </a:r>
          </a:p>
          <a:p>
            <a:pPr rtl="1" algn="r"/>
            <a:r>
              <a:rPr lang="ar-SA" altLang="en-US" sz="1400" dirty="0">
                <a:latin typeface="Arial"/>
                <a:cs typeface="Arial"/>
              </a:rPr>
              <a:t>4) دقة الترجمة والمحتوى الشرعي؟</a:t>
            </a:r>
          </a:p>
          <a:p>
            <a:pPr rtl="1" algn="r"/>
            <a:r>
              <a:rPr lang="ar-SA" altLang="en-US" sz="1400" dirty="0">
                <a:latin typeface="Arial"/>
                <a:cs typeface="Arial"/>
              </a:rPr>
              <a:t>لا نموذج لغوي وقت التشغيل. حزم المحتوى موقّعة، والترجمات يراجعها متحدثون أصليون، ونصوص الآداب والتهيئة من الهيئة فقط، وأي إضافة تمر بمراجعة الهيئة والجهات الشرعية.</a:t>
            </a:r>
          </a:p>
          <a:p>
            <a:pPr rtl="1" algn="r"/>
            <a:r>
              <a:rPr lang="ar-SA" altLang="en-US" sz="1400" dirty="0">
                <a:latin typeface="Arial"/>
                <a:cs typeface="Arial"/>
              </a:rPr>
              <a:t>5) ماذا لو أعاد الأمن التحقق عند الباب؟</a:t>
            </a:r>
          </a:p>
          <a:p>
            <a:pPr rtl="1" algn="r"/>
            <a:r>
              <a:rPr lang="ar-SA" altLang="en-US" sz="1400" dirty="0">
                <a:latin typeface="Arial"/>
                <a:cs typeface="Arial"/>
              </a:rPr>
              <a:t>التصريح يدعم تحققاً سريعاً على مستوى الفوج: لون ورقم وتوقيع. والتوأم يحسب كلفة كل تحقق إضافي، فتقرر الهيئة بالأرقام لا بالرأي.</a:t>
            </a:r>
          </a:p>
          <a:p>
            <a:pPr rtl="1" algn="r"/>
            <a:r>
              <a:rPr lang="ar-SA" altLang="en-US" sz="1400" dirty="0">
                <a:latin typeface="Arial"/>
                <a:cs typeface="Arial"/>
              </a:rPr>
              <a:t>6) الاتصال والبطارية في الساحات؟</a:t>
            </a:r>
          </a:p>
          <a:p>
            <a:pPr rtl="1" algn="r"/>
            <a:r>
              <a:rPr lang="ar-SA" altLang="en-US" sz="1400" dirty="0">
                <a:latin typeface="Arial"/>
                <a:cs typeface="Arial"/>
              </a:rPr>
              <a:t>تطبيق ويب يعمل دون اتصال على نقطة اتصال محلية، تصريح ورقي، بطاقات «أرني» ورقية، شاشات نقاط الانتظار، وهاتف قائد المجموعة قناة ثانية.</a:t>
            </a:r>
          </a:p>
          <a:p>
            <a:pPr rtl="1" algn="r"/>
            <a:r>
              <a:rPr lang="ar-SA" altLang="en-US" sz="1400" dirty="0">
                <a:latin typeface="Arial"/>
                <a:cs typeface="Arial"/>
              </a:rPr>
              <a:t>7) البيانات الشخصية ونظام حماية البيانات (PDPL)؟</a:t>
            </a:r>
          </a:p>
          <a:p>
            <a:pPr rtl="1" algn="r"/>
            <a:r>
              <a:rPr lang="ar-SA" altLang="en-US" sz="1400" dirty="0">
                <a:latin typeface="Arial"/>
                <a:cs typeface="Arial"/>
              </a:rPr>
              <a:t>لا أسماء ولا جوازات ولا أرقام هواتف في النموذج. مرجع التصريح يُخزن مجزّأً بملح. التصريح الموقّع بلا بيانات شخصية. المؤشرات والتوأم على مستوى الفوج فقط، وسجل التدقيق متسلسل.</a:t>
            </a:r>
          </a:p>
          <a:p>
            <a:pPr rtl="1" algn="r"/>
            <a:r>
              <a:rPr lang="ar-SA" altLang="en-US" sz="1400" dirty="0">
                <a:latin typeface="Arial"/>
                <a:cs typeface="Arial"/>
              </a:rPr>
              <a:t>8) الجدول الزمني وحجم الفريق؟</a:t>
            </a:r>
          </a:p>
          <a:p>
            <a:pPr rtl="1" algn="r"/>
            <a:r>
              <a:rPr lang="ar-SA" altLang="en-US" sz="1400" dirty="0">
                <a:latin typeface="Arial"/>
                <a:cs typeface="Arial"/>
              </a:rPr>
              <a:t>المحرك يعيد استخدام هيكل «رفيق»: FastAPI، عزل الجلسات، سجل التدقيق، واجهة عربية بملف واحد. الإصدار 0 خلال أسبوعين قبل المعسكر الافتراضي، الإصدار 1 في المعسكر، والتجربة الميدانية في معسكر النموذج.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686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77724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هَوْنًا إلى الروضة</a:t>
            </a:r>
            <a:endParaRPr lang="ar-SA" sz="4400" dirty="0"/>
          </a:p>
        </p:txBody>
      </p:sp>
      <p:sp>
        <p:nvSpPr>
          <p:cNvPr id="3" name="Text 1"/>
          <p:cNvSpPr txBox="1"/>
          <p:nvPr/>
        </p:nvSpPr>
        <p:spPr>
          <a:xfrm>
            <a:off x="6903720" y="1783080"/>
            <a:ext cx="1783080" cy="457200"/>
          </a:xfrm>
          <a:prstGeom prst="roundRect">
            <a:avLst>
              <a:gd name="adj" fmla="val 50000"/>
            </a:avLst>
          </a:prstGeom>
          <a:solidFill>
            <a:srgbClr val="78C0B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altLang="en-US" sz="1800" b="1" dirty="0">
                <a:solidFill>
                  <a:srgbClr val="0068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Hawnan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242316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400" b="1" dirty="0">
                <a:solidFill>
                  <a:srgbClr val="C9A2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موعدك محفوظ، فامشِ إليه هونًا</a:t>
            </a:r>
            <a:endParaRPr lang="ar-SA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3657600" y="315468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فكّر للحرمين 2026 · الثقافة والقيم · تجربة زيارة الروضة الشريفة</a:t>
            </a:r>
            <a:endParaRPr lang="ar-SA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3657600" y="356616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200" dirty="0">
                <a:solidFill>
                  <a:srgbClr val="A0D0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فريق رؤية بلس · جامعة الأمير مقرن، المدينة المنورة</a:t>
            </a:r>
            <a:endParaRPr lang="ar-SA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3703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050" dirty="0">
                <a:solidFill>
                  <a:srgbClr val="A0D0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رحلة الضيف من التصريح إلى باب الروضة</a:t>
            </a:r>
            <a:endParaRPr lang="ar-SA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3154680" y="4114800"/>
            <a:ext cx="566928" cy="365760"/>
          </a:xfrm>
          <a:prstGeom prst="roundRect">
            <a:avLst>
              <a:gd name="adj" fmla="val 50000"/>
            </a:avLst>
          </a:prstGeom>
          <a:solidFill>
            <a:srgbClr val="78C0B0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" b="1" dirty="0">
                <a:solidFill>
                  <a:srgbClr val="0068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ar-SA" sz="1300" dirty="0"/>
          </a:p>
        </p:txBody>
      </p:sp>
      <p:sp>
        <p:nvSpPr>
          <p:cNvPr id="9" name="Shape 7"/>
          <p:cNvSpPr/>
          <p:nvPr/>
        </p:nvSpPr>
        <p:spPr>
          <a:xfrm>
            <a:off x="2953512" y="4297680"/>
            <a:ext cx="201168" cy="0"/>
          </a:xfrm>
          <a:prstGeom prst="line">
            <a:avLst/>
          </a:prstGeom>
          <a:noFill/>
          <a:ln w="19050">
            <a:solidFill>
              <a:srgbClr val="78C0B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2386584" y="4114800"/>
            <a:ext cx="566928" cy="365760"/>
          </a:xfrm>
          <a:prstGeom prst="roundRect">
            <a:avLst>
              <a:gd name="adj" fmla="val 50000"/>
            </a:avLst>
          </a:prstGeom>
          <a:solidFill>
            <a:srgbClr val="78C0B0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" b="1" dirty="0">
                <a:solidFill>
                  <a:srgbClr val="0068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ar-SA" sz="1300" dirty="0"/>
          </a:p>
        </p:txBody>
      </p:sp>
      <p:sp>
        <p:nvSpPr>
          <p:cNvPr id="11" name="Shape 9"/>
          <p:cNvSpPr/>
          <p:nvPr/>
        </p:nvSpPr>
        <p:spPr>
          <a:xfrm>
            <a:off x="2185416" y="4297680"/>
            <a:ext cx="201168" cy="0"/>
          </a:xfrm>
          <a:prstGeom prst="line">
            <a:avLst/>
          </a:prstGeom>
          <a:noFill/>
          <a:ln w="19050">
            <a:solidFill>
              <a:srgbClr val="78C0B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618488" y="4114800"/>
            <a:ext cx="566928" cy="365760"/>
          </a:xfrm>
          <a:prstGeom prst="roundRect">
            <a:avLst>
              <a:gd name="adj" fmla="val 50000"/>
            </a:avLst>
          </a:prstGeom>
          <a:solidFill>
            <a:srgbClr val="78C0B0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" b="1" dirty="0">
                <a:solidFill>
                  <a:srgbClr val="0068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ar-SA" sz="1300" dirty="0"/>
          </a:p>
        </p:txBody>
      </p:sp>
      <p:sp>
        <p:nvSpPr>
          <p:cNvPr id="13" name="Shape 11"/>
          <p:cNvSpPr/>
          <p:nvPr/>
        </p:nvSpPr>
        <p:spPr>
          <a:xfrm>
            <a:off x="1417320" y="4297680"/>
            <a:ext cx="201168" cy="0"/>
          </a:xfrm>
          <a:prstGeom prst="line">
            <a:avLst/>
          </a:prstGeom>
          <a:noFill/>
          <a:ln w="19050">
            <a:solidFill>
              <a:srgbClr val="78C0B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50392" y="4114800"/>
            <a:ext cx="566928" cy="365760"/>
          </a:xfrm>
          <a:prstGeom prst="roundRect">
            <a:avLst>
              <a:gd name="adj" fmla="val 50000"/>
            </a:avLst>
          </a:prstGeom>
          <a:solidFill>
            <a:srgbClr val="78C0B0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" b="1" dirty="0">
                <a:solidFill>
                  <a:srgbClr val="0068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ar-SA" sz="1300" dirty="0"/>
          </a:p>
        </p:txBody>
      </p:sp>
      <p:sp>
        <p:nvSpPr>
          <p:cNvPr id="15" name="Shape 13"/>
          <p:cNvSpPr/>
          <p:nvPr/>
        </p:nvSpPr>
        <p:spPr>
          <a:xfrm>
            <a:off x="649224" y="4297680"/>
            <a:ext cx="201168" cy="0"/>
          </a:xfrm>
          <a:prstGeom prst="line">
            <a:avLst/>
          </a:prstGeom>
          <a:noFill/>
          <a:ln w="19050">
            <a:solidFill>
              <a:srgbClr val="C9A24D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83464" y="4114800"/>
            <a:ext cx="365760" cy="365760"/>
          </a:xfrm>
          <a:prstGeom prst="ellipse">
            <a:avLst/>
          </a:prstGeom>
          <a:solidFill>
            <a:srgbClr val="006868"/>
          </a:solidFill>
          <a:ln w="19050">
            <a:solidFill>
              <a:srgbClr val="C9A24D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144" y="452628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ar-SA" altLang="en-US" sz="900" dirty="0">
                <a:solidFill>
                  <a:srgbClr val="C9A2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الروضة</a:t>
            </a:r>
            <a:endParaRPr lang="ar-SA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3200400" y="4846320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850" dirty="0">
                <a:solidFill>
                  <a:srgbClr val="A0D0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نموذج أولي لهاكاثون فكّر للحرمين 2026، ليس منتجاً رسمياً للهيئة</a:t>
            </a:r>
            <a:endParaRPr lang="ar-SA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11480"/>
            <a:ext cx="566928" cy="310896"/>
          </a:xfrm>
          <a:prstGeom prst="roundRect">
            <a:avLst>
              <a:gd name="adj" fmla="val 50000"/>
            </a:avLst>
          </a:prstGeom>
          <a:solidFill>
            <a:srgbClr val="006868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ar-SA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1188720" y="292608"/>
            <a:ext cx="7498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600" b="1" dirty="0">
                <a:solidFill>
                  <a:srgbClr val="0068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المشكلة بالأرقام</a:t>
            </a:r>
            <a:endParaRPr lang="ar-SA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3200400" y="4846320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850" dirty="0">
                <a:solidFill>
                  <a:srgbClr val="5050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نموذج أولي لهاكاثون فكّر للحرمين 2026، ليس منتجاً رسمياً للهيئة</a:t>
            </a:r>
            <a:endParaRPr lang="ar-SA" sz="850" dirty="0"/>
          </a:p>
        </p:txBody>
      </p:sp>
      <p:sp>
        <p:nvSpPr>
          <p:cNvPr id="5" name="Shape 3"/>
          <p:cNvSpPr/>
          <p:nvPr/>
        </p:nvSpPr>
        <p:spPr>
          <a:xfrm>
            <a:off x="6126480" y="1097280"/>
            <a:ext cx="2560320" cy="1691640"/>
          </a:xfrm>
          <a:prstGeom prst="roundRect">
            <a:avLst>
              <a:gd name="adj" fmla="val 7568"/>
            </a:avLst>
          </a:prstGeom>
          <a:solidFill>
            <a:srgbClr val="E9F4F1"/>
          </a:solidFill>
          <a:ln w="12700">
            <a:solidFill>
              <a:srgbClr val="E9F4F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263640" y="1234440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altLang="en-US" sz="4600" b="1" dirty="0">
                <a:solidFill>
                  <a:srgbClr val="0068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50,000</a:t>
            </a:r>
            <a:endParaRPr lang="en-US" sz="4600" dirty="0"/>
          </a:p>
        </p:txBody>
      </p:sp>
      <p:sp>
        <p:nvSpPr>
          <p:cNvPr id="7" name="Text 5"/>
          <p:cNvSpPr txBox="1"/>
          <p:nvPr/>
        </p:nvSpPr>
        <p:spPr>
          <a:xfrm>
            <a:off x="6309360" y="2121408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ar-SA" altLang="en-US" sz="1250" dirty="0">
                <a:solidFill>
                  <a:srgbClr val="5050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تصريح يومياً لزيارة الروضة الشريفة</a:t>
            </a:r>
            <a:endParaRPr lang="ar-SA" sz="1250" dirty="0"/>
          </a:p>
        </p:txBody>
      </p:sp>
      <p:sp>
        <p:nvSpPr>
          <p:cNvPr id="8" name="Shape 6"/>
          <p:cNvSpPr/>
          <p:nvPr/>
        </p:nvSpPr>
        <p:spPr>
          <a:xfrm>
            <a:off x="3291840" y="1097280"/>
            <a:ext cx="2560320" cy="1691640"/>
          </a:xfrm>
          <a:prstGeom prst="roundRect">
            <a:avLst>
              <a:gd name="adj" fmla="val 7568"/>
            </a:avLst>
          </a:prstGeom>
          <a:solidFill>
            <a:srgbClr val="E9F4F1"/>
          </a:solidFill>
          <a:ln w="12700">
            <a:solidFill>
              <a:srgbClr val="E9F4F1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429000" y="1234440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altLang="en-US" sz="4600" b="1" dirty="0">
                <a:solidFill>
                  <a:srgbClr val="0068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48,000</a:t>
            </a:r>
            <a:endParaRPr lang="en-US" sz="4600" dirty="0"/>
          </a:p>
        </p:txBody>
      </p:sp>
      <p:sp>
        <p:nvSpPr>
          <p:cNvPr id="10" name="Text 8"/>
          <p:cNvSpPr txBox="1"/>
          <p:nvPr/>
        </p:nvSpPr>
        <p:spPr>
          <a:xfrm>
            <a:off x="3474720" y="2121408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ar-SA" altLang="en-US" sz="1250" dirty="0">
                <a:solidFill>
                  <a:srgbClr val="5050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زائر يومياً عبر الساحات ونقاط الفرز</a:t>
            </a:r>
            <a:endParaRPr lang="ar-SA" sz="1250" dirty="0"/>
          </a:p>
        </p:txBody>
      </p:sp>
      <p:sp>
        <p:nvSpPr>
          <p:cNvPr id="11" name="Shape 9"/>
          <p:cNvSpPr/>
          <p:nvPr/>
        </p:nvSpPr>
        <p:spPr>
          <a:xfrm>
            <a:off x="457200" y="1097280"/>
            <a:ext cx="2560320" cy="1691640"/>
          </a:xfrm>
          <a:prstGeom prst="roundRect">
            <a:avLst>
              <a:gd name="adj" fmla="val 7568"/>
            </a:avLst>
          </a:prstGeom>
          <a:solidFill>
            <a:srgbClr val="E9F4F1"/>
          </a:solidFill>
          <a:ln w="12700">
            <a:solidFill>
              <a:srgbClr val="E9F4F1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94360" y="1234440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altLang="en-US" sz="4600" b="1" dirty="0">
                <a:solidFill>
                  <a:srgbClr val="C9A2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4600" dirty="0"/>
          </a:p>
        </p:txBody>
      </p:sp>
      <p:sp>
        <p:nvSpPr>
          <p:cNvPr id="13" name="Text 11"/>
          <p:cNvSpPr txBox="1"/>
          <p:nvPr/>
        </p:nvSpPr>
        <p:spPr>
          <a:xfrm>
            <a:off x="640080" y="2121408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ar-SA" altLang="en-US" sz="1250" dirty="0">
                <a:solidFill>
                  <a:srgbClr val="5050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دقيقة متوسط الانتظار قبل الدخول</a:t>
            </a:r>
            <a:endParaRPr lang="ar-SA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457200" y="28803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000" dirty="0">
                <a:solidFill>
                  <a:srgbClr val="5050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المصدر: نص التحدي الرسمي، فكّر للحرمين 2026. مساحة الروضة ثابتة (نحو 330 م²)، فالانتظار لا يُلغى، لكنه يُفهم.</a:t>
            </a:r>
            <a:endParaRPr lang="ar-SA" sz="1000" dirty="0"/>
          </a:p>
        </p:txBody>
      </p:sp>
      <p:sp>
        <p:nvSpPr>
          <p:cNvPr id="15" name="Shape 13"/>
          <p:cNvSpPr/>
          <p:nvPr/>
        </p:nvSpPr>
        <p:spPr>
          <a:xfrm>
            <a:off x="457200" y="3291840"/>
            <a:ext cx="8229600" cy="914400"/>
          </a:xfrm>
          <a:prstGeom prst="roundRect">
            <a:avLst>
              <a:gd name="adj" fmla="val 14000"/>
            </a:avLst>
          </a:prstGeom>
          <a:solidFill>
            <a:srgbClr val="006868"/>
          </a:solidFill>
          <a:ln w="12700">
            <a:solidFill>
              <a:srgbClr val="006868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31520" y="3364992"/>
            <a:ext cx="7680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«وين نلاقي المسار الفوري؟»</a:t>
            </a:r>
            <a:endParaRPr lang="ar-SA" sz="2000" dirty="0"/>
          </a:p>
        </p:txBody>
      </p:sp>
      <p:sp>
        <p:nvSpPr>
          <p:cNvPr id="17" name="Text 15"/>
          <p:cNvSpPr txBox="1"/>
          <p:nvPr/>
        </p:nvSpPr>
        <p:spPr>
          <a:xfrm>
            <a:off x="731520" y="3858768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000" dirty="0">
                <a:solidFill>
                  <a:srgbClr val="A0D0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صوت الضيف، من الملف الرسمي للتحدي: حجز خاطئ للجنس، قوائم انتظار، حجز الأسرة تحت حساب واحد، «وين نلاقي المسار الفوري»</a:t>
            </a:r>
            <a:endParaRPr lang="ar-SA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457200" y="434340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ar-SA" altLang="en-US" sz="1500" dirty="0">
                <a:solidFill>
                  <a:srgbClr val="5050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الضيف يعرف موعده، </a:t>
            </a:r>
            <a:pPr algn="r" indent="0" marL="0">
              <a:buNone/>
            </a:pPr>
            <a:r>
              <a:rPr lang="ar-SA" altLang="en-US" sz="1500" b="1" dirty="0">
                <a:solidFill>
                  <a:srgbClr val="0068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ولا يعرف شيئاً بعده.</a:t>
            </a:r>
            <a:endParaRPr lang="ar-SA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11480"/>
            <a:ext cx="566928" cy="310896"/>
          </a:xfrm>
          <a:prstGeom prst="roundRect">
            <a:avLst>
              <a:gd name="adj" fmla="val 50000"/>
            </a:avLst>
          </a:prstGeom>
          <a:solidFill>
            <a:srgbClr val="006868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ar-SA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1188720" y="292608"/>
            <a:ext cx="7498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600" b="1" dirty="0">
                <a:solidFill>
                  <a:srgbClr val="0068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الصندوق الأسود: رحلة سيتي اليوم</a:t>
            </a:r>
            <a:endParaRPr lang="ar-SA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3200400" y="4846320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850" dirty="0">
                <a:solidFill>
                  <a:srgbClr val="5050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نموذج أولي لهاكاثون فكّر للحرمين 2026، ليس منتجاً رسمياً للهيئة</a:t>
            </a:r>
            <a:endParaRPr lang="ar-SA" sz="85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896112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dirty="0">
                <a:solidFill>
                  <a:srgbClr val="5050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سيتي، 68 عاماً، إندونيسية، لا تتحدث العربية، معها تصريح نسك صحيح ولا تعرف ماذا بعده.</a:t>
            </a:r>
            <a:endParaRPr lang="ar-SA" sz="1300" dirty="0"/>
          </a:p>
        </p:txBody>
      </p:sp>
      <p:sp>
        <p:nvSpPr>
          <p:cNvPr id="6" name="Shape 4"/>
          <p:cNvSpPr/>
          <p:nvPr/>
        </p:nvSpPr>
        <p:spPr>
          <a:xfrm>
            <a:off x="457200" y="1325880"/>
            <a:ext cx="8229600" cy="2697480"/>
          </a:xfrm>
          <a:prstGeom prst="roundRect">
            <a:avLst>
              <a:gd name="adj" fmla="val 6102"/>
            </a:avLst>
          </a:prstGeom>
          <a:solidFill>
            <a:srgbClr val="505060"/>
          </a:solidFill>
          <a:ln w="12700">
            <a:solidFill>
              <a:srgbClr val="50506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31520" y="141732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100" b="1" dirty="0">
                <a:solidFill>
                  <a:srgbClr val="A0D0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الصندوق الأسود: من رمز QR إلى باب الروضة</a:t>
            </a:r>
            <a:endParaRPr lang="ar-SA" sz="1100" dirty="0"/>
          </a:p>
        </p:txBody>
      </p:sp>
      <p:sp>
        <p:nvSpPr>
          <p:cNvPr id="8" name="Shape 6"/>
          <p:cNvSpPr/>
          <p:nvPr/>
        </p:nvSpPr>
        <p:spPr>
          <a:xfrm>
            <a:off x="6035040" y="1874520"/>
            <a:ext cx="228600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903720" y="1719072"/>
            <a:ext cx="548640" cy="292608"/>
          </a:xfrm>
          <a:prstGeom prst="roundRect">
            <a:avLst>
              <a:gd name="adj" fmla="val 50000"/>
            </a:avLst>
          </a:prstGeom>
          <a:solidFill>
            <a:srgbClr val="78C0B0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" b="1" dirty="0">
                <a:solidFill>
                  <a:srgbClr val="0068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ar-SA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6172200" y="20574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400" b="1" dirty="0">
                <a:solidFill>
                  <a:srgbClr val="0068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الوصول عبر الساحات</a:t>
            </a:r>
            <a:endParaRPr lang="ar-SA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6035040" y="2816352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أين أذهب؟</a:t>
            </a:r>
            <a:endParaRPr lang="ar-SA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6126480" y="320040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ar-SA" altLang="en-US" sz="1050" dirty="0">
                <a:solidFill>
                  <a:srgbClr val="A0D0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لا بوابة معلومة ولا نقطة تجمع، والمسار من الفندق غير مرسوم</a:t>
            </a:r>
            <a:endParaRPr lang="ar-SA" sz="1050" dirty="0"/>
          </a:p>
        </p:txBody>
      </p:sp>
      <p:sp>
        <p:nvSpPr>
          <p:cNvPr id="13" name="Shape 11"/>
          <p:cNvSpPr/>
          <p:nvPr/>
        </p:nvSpPr>
        <p:spPr>
          <a:xfrm>
            <a:off x="5715000" y="2263140"/>
            <a:ext cx="320040" cy="0"/>
          </a:xfrm>
          <a:prstGeom prst="line">
            <a:avLst/>
          </a:prstGeom>
          <a:noFill/>
          <a:ln w="25400">
            <a:solidFill>
              <a:srgbClr val="78C0B0"/>
            </a:solidFill>
            <a:prstDash val="solid"/>
            <a:headEnd type="triangle"/>
          </a:ln>
        </p:spPr>
      </p:sp>
      <p:sp>
        <p:nvSpPr>
          <p:cNvPr id="14" name="Shape 12"/>
          <p:cNvSpPr/>
          <p:nvPr/>
        </p:nvSpPr>
        <p:spPr>
          <a:xfrm>
            <a:off x="3429000" y="1874520"/>
            <a:ext cx="228600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297680" y="1719072"/>
            <a:ext cx="548640" cy="292608"/>
          </a:xfrm>
          <a:prstGeom prst="roundRect">
            <a:avLst>
              <a:gd name="adj" fmla="val 50000"/>
            </a:avLst>
          </a:prstGeom>
          <a:solidFill>
            <a:srgbClr val="78C0B0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" b="1" dirty="0">
                <a:solidFill>
                  <a:srgbClr val="0068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ar-SA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3566160" y="20574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400" b="1" dirty="0">
                <a:solidFill>
                  <a:srgbClr val="0068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الانتظار عند نقطة الفرز</a:t>
            </a:r>
            <a:endParaRPr lang="ar-SA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3429000" y="2816352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متى دوري؟</a:t>
            </a:r>
            <a:endParaRPr lang="ar-SA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3520440" y="320040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ar-SA" altLang="en-US" sz="1050" dirty="0">
                <a:solidFill>
                  <a:srgbClr val="A0D0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التصريح يُقرأ 2 إلى 3 مرات، والانتظار مفتوح بلا مدى زمني</a:t>
            </a:r>
            <a:endParaRPr lang="ar-SA" sz="1050" dirty="0"/>
          </a:p>
        </p:txBody>
      </p:sp>
      <p:sp>
        <p:nvSpPr>
          <p:cNvPr id="19" name="Shape 17"/>
          <p:cNvSpPr/>
          <p:nvPr/>
        </p:nvSpPr>
        <p:spPr>
          <a:xfrm>
            <a:off x="3108960" y="2263140"/>
            <a:ext cx="320040" cy="0"/>
          </a:xfrm>
          <a:prstGeom prst="line">
            <a:avLst/>
          </a:prstGeom>
          <a:noFill/>
          <a:ln w="25400">
            <a:solidFill>
              <a:srgbClr val="78C0B0"/>
            </a:solidFill>
            <a:prstDash val="solid"/>
            <a:headEnd type="triangle"/>
          </a:ln>
        </p:spPr>
      </p:sp>
      <p:sp>
        <p:nvSpPr>
          <p:cNvPr id="20" name="Shape 18"/>
          <p:cNvSpPr/>
          <p:nvPr/>
        </p:nvSpPr>
        <p:spPr>
          <a:xfrm>
            <a:off x="822960" y="1874520"/>
            <a:ext cx="228600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1691640" y="1719072"/>
            <a:ext cx="548640" cy="292608"/>
          </a:xfrm>
          <a:prstGeom prst="roundRect">
            <a:avLst>
              <a:gd name="adj" fmla="val 50000"/>
            </a:avLst>
          </a:prstGeom>
          <a:solidFill>
            <a:srgbClr val="78C0B0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" b="1" dirty="0">
                <a:solidFill>
                  <a:srgbClr val="0068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ar-SA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960120" y="20574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400" b="1" dirty="0">
                <a:solidFill>
                  <a:srgbClr val="0068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الدخول</a:t>
            </a:r>
            <a:endParaRPr lang="ar-SA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822960" y="2816352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ماذا يقول المشرف؟</a:t>
            </a:r>
            <a:endParaRPr lang="ar-SA" sz="1600" dirty="0"/>
          </a:p>
        </p:txBody>
      </p:sp>
      <p:sp>
        <p:nvSpPr>
          <p:cNvPr id="24" name="Text 22"/>
          <p:cNvSpPr txBox="1"/>
          <p:nvPr/>
        </p:nvSpPr>
        <p:spPr>
          <a:xfrm>
            <a:off x="914400" y="320040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ar-SA" altLang="en-US" sz="1050" dirty="0">
                <a:solidFill>
                  <a:srgbClr val="A0D0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تعليمات بمكبر صوت بلغة لا تفهمها، فتتبع الحشد</a:t>
            </a:r>
            <a:endParaRPr lang="ar-SA" sz="105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41605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ar-SA" altLang="en-US" sz="1400" b="1" dirty="0">
                <a:solidFill>
                  <a:srgbClr val="C9A2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ثلاثة مجهولات</a:t>
            </a:r>
            <a:pPr algn="r" indent="0" marL="0">
              <a:buNone/>
            </a:pPr>
            <a:r>
              <a:rPr lang="ar-SA" altLang="en-US" sz="1400" dirty="0">
                <a:solidFill>
                  <a:srgbClr val="5050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تحوّل الانتظار إلى ترقب متوتر يدفع إلى التزاحم، والملف الرسمي يسمّي تفاوت سرعة التحقق سبباً مباشراً لنقاط الضغط.</a:t>
            </a:r>
            <a:endParaRPr lang="ar-SA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11480"/>
            <a:ext cx="566928" cy="310896"/>
          </a:xfrm>
          <a:prstGeom prst="roundRect">
            <a:avLst>
              <a:gd name="adj" fmla="val 50000"/>
            </a:avLst>
          </a:prstGeom>
          <a:solidFill>
            <a:srgbClr val="006868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ar-SA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1188720" y="292608"/>
            <a:ext cx="7498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600" b="1" dirty="0">
                <a:solidFill>
                  <a:srgbClr val="0068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الحل في مشهد واحد</a:t>
            </a:r>
            <a:endParaRPr lang="ar-SA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3200400" y="4846320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850" dirty="0">
                <a:solidFill>
                  <a:srgbClr val="5050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نموذج أولي لهاكاثون فكّر للحرمين 2026، ليس منتجاً رسمياً للهيئة</a:t>
            </a:r>
            <a:endParaRPr lang="ar-SA" sz="850" dirty="0"/>
          </a:p>
        </p:txBody>
      </p:sp>
      <p:sp>
        <p:nvSpPr>
          <p:cNvPr id="5" name="Shape 3"/>
          <p:cNvSpPr/>
          <p:nvPr/>
        </p:nvSpPr>
        <p:spPr>
          <a:xfrm>
            <a:off x="1417320" y="1335024"/>
            <a:ext cx="6309360" cy="0"/>
          </a:xfrm>
          <a:prstGeom prst="line">
            <a:avLst/>
          </a:prstGeom>
          <a:noFill/>
          <a:ln w="19050">
            <a:solidFill>
              <a:srgbClr val="78C0B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60920" y="1143000"/>
            <a:ext cx="731520" cy="384048"/>
          </a:xfrm>
          <a:prstGeom prst="roundRect">
            <a:avLst>
              <a:gd name="adj" fmla="val 50000"/>
            </a:avLst>
          </a:prstGeom>
          <a:solidFill>
            <a:srgbClr val="006868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ar-SA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720840" y="169164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0068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رسالة الرحلة</a:t>
            </a:r>
            <a:endParaRPr lang="ar-SA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6812280" y="2194560"/>
            <a:ext cx="18288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ar-SA" altLang="en-US" sz="1150" dirty="0">
                <a:solidFill>
                  <a:srgbClr val="5050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بلغة الضيف قبل 24 ساعة ثم 90 ثم 30 دقيقة: البوابة ونقطة التجمع بالصور ووقت الانطلاق.</a:t>
            </a:r>
            <a:endParaRPr lang="ar-SA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5257800" y="1143000"/>
            <a:ext cx="731520" cy="384048"/>
          </a:xfrm>
          <a:prstGeom prst="roundRect">
            <a:avLst>
              <a:gd name="adj" fmla="val 50000"/>
            </a:avLst>
          </a:prstGeom>
          <a:solidFill>
            <a:srgbClr val="006868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ar-SA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4617720" y="169164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0068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تحقق واحد + ختم صامت</a:t>
            </a:r>
            <a:endParaRPr lang="ar-SA" sz="1350" dirty="0"/>
          </a:p>
        </p:txBody>
      </p:sp>
      <p:sp>
        <p:nvSpPr>
          <p:cNvPr id="11" name="Text 9"/>
          <p:cNvSpPr txBox="1"/>
          <p:nvPr/>
        </p:nvSpPr>
        <p:spPr>
          <a:xfrm>
            <a:off x="4709160" y="2194560"/>
            <a:ext cx="18288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ar-SA" altLang="en-US" sz="1150" dirty="0">
                <a:solidFill>
                  <a:srgbClr val="5050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يُقرأ تصريح نسك مرة واحدة، فيصدر تصريح فوج موقّع يُتحقق منه دون اتصال في زمن ثابت.</a:t>
            </a:r>
            <a:endParaRPr lang="ar-SA" sz="1150" dirty="0"/>
          </a:p>
        </p:txBody>
      </p:sp>
      <p:sp>
        <p:nvSpPr>
          <p:cNvPr id="12" name="Text 10"/>
          <p:cNvSpPr txBox="1"/>
          <p:nvPr/>
        </p:nvSpPr>
        <p:spPr>
          <a:xfrm>
            <a:off x="3154680" y="1143000"/>
            <a:ext cx="731520" cy="384048"/>
          </a:xfrm>
          <a:prstGeom prst="roundRect">
            <a:avLst>
              <a:gd name="adj" fmla="val 50000"/>
            </a:avLst>
          </a:prstGeom>
          <a:solidFill>
            <a:srgbClr val="006868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ar-SA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2514600" y="169164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0068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بطاقة الانتظار</a:t>
            </a:r>
            <a:endParaRPr lang="ar-SA" sz="1350" dirty="0"/>
          </a:p>
        </p:txBody>
      </p:sp>
      <p:sp>
        <p:nvSpPr>
          <p:cNvPr id="14" name="Text 12"/>
          <p:cNvSpPr txBox="1"/>
          <p:nvPr/>
        </p:nvSpPr>
        <p:spPr>
          <a:xfrm>
            <a:off x="2606040" y="2194560"/>
            <a:ext cx="18288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ar-SA" altLang="en-US" sz="1150" dirty="0">
                <a:solidFill>
                  <a:srgbClr val="5050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رقم الفوج، مدى زمني صادق «نحو 12–18 دقيقة»، تعليمة المشرف مترجمة، وبطاقات «أرني».</a:t>
            </a:r>
            <a:endParaRPr lang="ar-SA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1051560" y="1143000"/>
            <a:ext cx="731520" cy="384048"/>
          </a:xfrm>
          <a:prstGeom prst="roundRect">
            <a:avLst>
              <a:gd name="adj" fmla="val 50000"/>
            </a:avLst>
          </a:prstGeom>
          <a:solidFill>
            <a:srgbClr val="006868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ar-SA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411480" y="169164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0068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النداء الصامت</a:t>
            </a:r>
            <a:endParaRPr lang="ar-SA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502920" y="2194560"/>
            <a:ext cx="18288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ar-SA" altLang="en-US" sz="1150" dirty="0">
                <a:solidFill>
                  <a:srgbClr val="5050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ضغطة واحدة من المشرف تصل إلى الهواتف والشاشات بعشر لغات، بلا مكبرات صوت.</a:t>
            </a:r>
            <a:endParaRPr lang="ar-SA" sz="1150" dirty="0"/>
          </a:p>
        </p:txBody>
      </p:sp>
      <p:sp>
        <p:nvSpPr>
          <p:cNvPr id="18" name="Shape 16"/>
          <p:cNvSpPr/>
          <p:nvPr/>
        </p:nvSpPr>
        <p:spPr>
          <a:xfrm>
            <a:off x="457200" y="3657600"/>
            <a:ext cx="8229600" cy="1005840"/>
          </a:xfrm>
          <a:prstGeom prst="roundRect">
            <a:avLst>
              <a:gd name="adj" fmla="val 12727"/>
            </a:avLst>
          </a:prstGeom>
          <a:solidFill>
            <a:srgbClr val="E9F4F1"/>
          </a:solidFill>
          <a:ln w="12700">
            <a:solidFill>
              <a:srgbClr val="E9F4F1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31520" y="3767328"/>
            <a:ext cx="76809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ar-SA" altLang="en-US" sz="1250" b="1" dirty="0">
                <a:solidFill>
                  <a:srgbClr val="0068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خلف المشهد: </a:t>
            </a:r>
            <a:pPr algn="r" indent="0" marL="0">
              <a:buNone/>
            </a:pPr>
            <a:r>
              <a:rPr lang="ar-SA" altLang="en-US" sz="1250" dirty="0">
                <a:solidFill>
                  <a:srgbClr val="5050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محرك تفويج واحد يشغّل ساعة الفوج الحية والتوأم الرقمي من الكود نفسه، داخل منظومة التفويج القائمة لدى الهيئة. </a:t>
            </a:r>
            <a:pPr algn="r" indent="0" marL="0">
              <a:buNone/>
            </a:pPr>
            <a:r>
              <a:rPr lang="ar-SA" altLang="en-US" sz="1250" b="1" dirty="0">
                <a:solidFill>
                  <a:srgbClr val="C9A2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لا يلمس نسك</a:t>
            </a:r>
            <a:pPr algn="r" indent="0" marL="0">
              <a:buNone/>
            </a:pPr>
            <a:r>
              <a:rPr lang="ar-SA" altLang="en-US" sz="1250" dirty="0">
                <a:solidFill>
                  <a:srgbClr val="5050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، ويبدأ حيث يتوقف رمز QR وينتهي عند باب الروضة. لا شيء على الشاشة داخل الروضة.</a:t>
            </a:r>
            <a:endParaRPr lang="ar-SA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11480"/>
            <a:ext cx="566928" cy="310896"/>
          </a:xfrm>
          <a:prstGeom prst="roundRect">
            <a:avLst>
              <a:gd name="adj" fmla="val 50000"/>
            </a:avLst>
          </a:prstGeom>
          <a:solidFill>
            <a:srgbClr val="006868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ar-SA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1188720" y="292608"/>
            <a:ext cx="7498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600" b="1" dirty="0">
                <a:solidFill>
                  <a:srgbClr val="0068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الابتكارات الأربعة</a:t>
            </a:r>
            <a:endParaRPr lang="ar-SA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3200400" y="4846320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850" dirty="0">
                <a:solidFill>
                  <a:srgbClr val="5050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نموذج أولي لهاكاثون فكّر للحرمين 2026، ليس منتجاً رسمياً للهيئة</a:t>
            </a:r>
            <a:endParaRPr lang="ar-SA" sz="850" dirty="0"/>
          </a:p>
        </p:txBody>
      </p:sp>
      <p:sp>
        <p:nvSpPr>
          <p:cNvPr id="5" name="Shape 3"/>
          <p:cNvSpPr/>
          <p:nvPr/>
        </p:nvSpPr>
        <p:spPr>
          <a:xfrm>
            <a:off x="4709160" y="1051560"/>
            <a:ext cx="3977640" cy="1645920"/>
          </a:xfrm>
          <a:prstGeom prst="roundRect">
            <a:avLst>
              <a:gd name="adj" fmla="val 7778"/>
            </a:avLst>
          </a:prstGeom>
          <a:solidFill>
            <a:srgbClr val="E9F4F1"/>
          </a:solidFill>
          <a:ln w="12700">
            <a:solidFill>
              <a:srgbClr val="E9F4F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845552" y="1252728"/>
            <a:ext cx="658368" cy="658368"/>
          </a:xfrm>
          <a:prstGeom prst="ellipse">
            <a:avLst/>
          </a:prstGeom>
          <a:solidFill>
            <a:srgbClr val="78C0B0"/>
          </a:solidFill>
          <a:ln w="12700">
            <a:solidFill>
              <a:srgbClr val="78C0B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010144" y="1435608"/>
            <a:ext cx="329184" cy="292608"/>
          </a:xfrm>
          <a:prstGeom prst="hear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892040" y="1252728"/>
            <a:ext cx="281635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500" b="1" dirty="0">
                <a:solidFill>
                  <a:srgbClr val="0068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الطمأنة أداة لسلامة الحشود</a:t>
            </a:r>
            <a:endParaRPr lang="ar-SA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4892040" y="1984248"/>
            <a:ext cx="3611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ar-SA" altLang="en-US" sz="1150" dirty="0">
                <a:solidFill>
                  <a:srgbClr val="5050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لا نقصّر انتظاراً محكوماً بالطاقة الاستيعابية، بل نزيل المجهولات الثلاثة التي يحددها الملف سبباً للتدافع.</a:t>
            </a:r>
            <a:endParaRPr lang="ar-SA" sz="1150" dirty="0"/>
          </a:p>
        </p:txBody>
      </p:sp>
      <p:sp>
        <p:nvSpPr>
          <p:cNvPr id="10" name="Shape 8"/>
          <p:cNvSpPr/>
          <p:nvPr/>
        </p:nvSpPr>
        <p:spPr>
          <a:xfrm>
            <a:off x="457200" y="1051560"/>
            <a:ext cx="3977640" cy="1645920"/>
          </a:xfrm>
          <a:prstGeom prst="roundRect">
            <a:avLst>
              <a:gd name="adj" fmla="val 7778"/>
            </a:avLst>
          </a:prstGeom>
          <a:solidFill>
            <a:srgbClr val="E9F4F1"/>
          </a:solidFill>
          <a:ln w="12700">
            <a:solidFill>
              <a:srgbClr val="E9F4F1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593592" y="1252728"/>
            <a:ext cx="658368" cy="658368"/>
          </a:xfrm>
          <a:prstGeom prst="ellipse">
            <a:avLst/>
          </a:prstGeom>
          <a:solidFill>
            <a:srgbClr val="78C0B0"/>
          </a:solidFill>
          <a:ln w="12700">
            <a:solidFill>
              <a:srgbClr val="78C0B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593592" y="1252728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alt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640080" y="1252728"/>
            <a:ext cx="281635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500" b="1" dirty="0">
                <a:solidFill>
                  <a:srgbClr val="0068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تحقق واحد وتحرك بالفوج</a:t>
            </a:r>
            <a:endParaRPr lang="ar-SA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640080" y="1984248"/>
            <a:ext cx="3611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ar-SA" altLang="en-US" sz="1150" dirty="0">
                <a:solidFill>
                  <a:srgbClr val="5050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تصريح فوج موقّع يُقرأ في زمن ثابت بدل تحققات متكررة متفاوتة السرعة عند كل نقطة.</a:t>
            </a:r>
            <a:endParaRPr lang="ar-SA" sz="1150" dirty="0"/>
          </a:p>
        </p:txBody>
      </p:sp>
      <p:sp>
        <p:nvSpPr>
          <p:cNvPr id="15" name="Shape 13"/>
          <p:cNvSpPr/>
          <p:nvPr/>
        </p:nvSpPr>
        <p:spPr>
          <a:xfrm>
            <a:off x="4709160" y="2926080"/>
            <a:ext cx="3977640" cy="1645920"/>
          </a:xfrm>
          <a:prstGeom prst="roundRect">
            <a:avLst>
              <a:gd name="adj" fmla="val 7778"/>
            </a:avLst>
          </a:prstGeom>
          <a:solidFill>
            <a:srgbClr val="E9F4F1"/>
          </a:solidFill>
          <a:ln w="12700">
            <a:solidFill>
              <a:srgbClr val="E9F4F1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845552" y="3127248"/>
            <a:ext cx="658368" cy="658368"/>
          </a:xfrm>
          <a:prstGeom prst="ellipse">
            <a:avLst/>
          </a:prstGeom>
          <a:solidFill>
            <a:srgbClr val="78C0B0"/>
          </a:solidFill>
          <a:ln w="12700">
            <a:solidFill>
              <a:srgbClr val="78C0B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964424" y="3346704"/>
            <a:ext cx="420624" cy="219456"/>
          </a:xfrm>
          <a:prstGeom prst="leftRightArrow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4892040" y="3127248"/>
            <a:ext cx="281635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500" b="1" dirty="0">
                <a:solidFill>
                  <a:srgbClr val="0068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جسر لغوي صامت في الاتجاهين</a:t>
            </a:r>
            <a:endParaRPr lang="ar-SA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4892040" y="3858768"/>
            <a:ext cx="3611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ar-SA" altLang="en-US" sz="1150" dirty="0">
                <a:solidFill>
                  <a:srgbClr val="5050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نداء صامت من المشرف للضيف، وبطاقات «أرني» من الضيف للمشرف، بلا ترجمة فورية ولا نموذج لغوي وقت التشغيل.</a:t>
            </a:r>
            <a:endParaRPr lang="ar-SA" sz="1150" dirty="0"/>
          </a:p>
        </p:txBody>
      </p:sp>
      <p:sp>
        <p:nvSpPr>
          <p:cNvPr id="20" name="Shape 18"/>
          <p:cNvSpPr/>
          <p:nvPr/>
        </p:nvSpPr>
        <p:spPr>
          <a:xfrm>
            <a:off x="457200" y="2926080"/>
            <a:ext cx="3977640" cy="1645920"/>
          </a:xfrm>
          <a:prstGeom prst="roundRect">
            <a:avLst>
              <a:gd name="adj" fmla="val 7778"/>
            </a:avLst>
          </a:prstGeom>
          <a:solidFill>
            <a:srgbClr val="E9F4F1"/>
          </a:solidFill>
          <a:ln w="12700">
            <a:solidFill>
              <a:srgbClr val="E9F4F1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593592" y="3127248"/>
            <a:ext cx="658368" cy="658368"/>
          </a:xfrm>
          <a:prstGeom prst="ellipse">
            <a:avLst/>
          </a:prstGeom>
          <a:solidFill>
            <a:srgbClr val="78C0B0"/>
          </a:solidFill>
          <a:ln w="12700">
            <a:solidFill>
              <a:srgbClr val="78C0B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749040" y="3282696"/>
            <a:ext cx="347472" cy="347472"/>
          </a:xfrm>
          <a:prstGeom prst="gear6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40080" y="3127248"/>
            <a:ext cx="281635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500" b="1" dirty="0">
                <a:solidFill>
                  <a:srgbClr val="0068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محرك واحد وساعتان</a:t>
            </a:r>
            <a:endParaRPr lang="ar-SA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640080" y="3858768"/>
            <a:ext cx="3611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ar-SA" altLang="en-US" sz="1150" dirty="0">
                <a:solidFill>
                  <a:srgbClr val="5050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ساعة الفوج الحية والتوأم الرقمي من الكود نفسه، فكل رقم في العرض يخرج من محرك </a:t>
            </a:r>
            <a:pPr algn="r" indent="0" marL="0">
              <a:buNone/>
            </a:pPr>
            <a:r>
              <a:rPr lang="ar-SA" altLang="en-US" sz="1150" b="1" dirty="0">
                <a:solidFill>
                  <a:srgbClr val="C9A2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يمكن للجنة فحصه.</a:t>
            </a:r>
            <a:endParaRPr lang="ar-SA" sz="11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11480"/>
            <a:ext cx="566928" cy="310896"/>
          </a:xfrm>
          <a:prstGeom prst="roundRect">
            <a:avLst>
              <a:gd name="adj" fmla="val 50000"/>
            </a:avLst>
          </a:prstGeom>
          <a:solidFill>
            <a:srgbClr val="006868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ar-SA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1188720" y="292608"/>
            <a:ext cx="7498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600" b="1" dirty="0">
                <a:solidFill>
                  <a:srgbClr val="0068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العرض الحي: هاتفان وجهاز لوحي وشاشة</a:t>
            </a:r>
            <a:endParaRPr lang="ar-SA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3200400" y="4846320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850" dirty="0">
                <a:solidFill>
                  <a:srgbClr val="5050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نموذج أولي لهاكاثون فكّر للحرمين 2026، ليس منتجاً رسمياً للهيئة</a:t>
            </a:r>
            <a:endParaRPr lang="ar-SA" sz="85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868680"/>
            <a:ext cx="155448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9050">
            <a:solidFill>
              <a:srgbClr val="C9A24D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00" b="1" dirty="0">
                <a:solidFill>
                  <a:srgbClr val="0068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يعمل دون اتصال</a:t>
            </a:r>
            <a:endParaRPr lang="ar-SA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2194560" y="868680"/>
            <a:ext cx="6492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100" dirty="0">
                <a:solidFill>
                  <a:srgbClr val="5050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الحاسوب يبث نقطة اتصال محلية ولا إنترنت في العرض. الشاشة والهواتف تتغير في الثانية نفسها، بصمت.</a:t>
            </a:r>
            <a:endParaRPr lang="ar-SA" sz="1100" dirty="0"/>
          </a:p>
        </p:txBody>
      </p:sp>
      <p:sp>
        <p:nvSpPr>
          <p:cNvPr id="7" name="Shape 5"/>
          <p:cNvSpPr/>
          <p:nvPr/>
        </p:nvSpPr>
        <p:spPr>
          <a:xfrm>
            <a:off x="6812280" y="1371600"/>
            <a:ext cx="1783080" cy="3063240"/>
          </a:xfrm>
          <a:prstGeom prst="roundRect">
            <a:avLst>
              <a:gd name="adj" fmla="val 11282"/>
            </a:avLst>
          </a:prstGeom>
          <a:solidFill>
            <a:srgbClr val="202020"/>
          </a:solidFill>
          <a:ln w="12700">
            <a:solidFill>
              <a:srgbClr val="202020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6894576" y="1609344"/>
            <a:ext cx="1618488" cy="2606040"/>
          </a:xfrm>
          <a:prstGeom prst="roundRect">
            <a:avLst>
              <a:gd name="adj" fmla="val 565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475220" y="1463040"/>
            <a:ext cx="457200" cy="73152"/>
          </a:xfrm>
          <a:prstGeom prst="roundRect">
            <a:avLst>
              <a:gd name="adj" fmla="val 50000"/>
            </a:avLst>
          </a:prstGeom>
          <a:solidFill>
            <a:srgbClr val="505060"/>
          </a:solidFill>
          <a:ln w="12700">
            <a:solidFill>
              <a:srgbClr val="50506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429500" y="4288536"/>
            <a:ext cx="548640" cy="54864"/>
          </a:xfrm>
          <a:prstGeom prst="roundRect">
            <a:avLst>
              <a:gd name="adj" fmla="val 50000"/>
            </a:avLst>
          </a:prstGeom>
          <a:solidFill>
            <a:srgbClr val="505060"/>
          </a:solidFill>
          <a:ln w="12700">
            <a:solidFill>
              <a:srgbClr val="505060"/>
            </a:solidFill>
            <a:prstDash val="solid"/>
          </a:ln>
        </p:spPr>
      </p:sp>
      <p:pic>
        <p:nvPicPr>
          <p:cNvPr id="11" name="Image 0" descr="/home/user/darghaith-samples/haramain-2026/prototype/docs/screenshots/guest-i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894576" y="1609344"/>
            <a:ext cx="1618488" cy="2606040"/>
          </a:xfrm>
          <a:prstGeom prst="rect">
            <a:avLst/>
          </a:prstGeom>
        </p:spPr>
      </p:pic>
      <p:sp>
        <p:nvSpPr>
          <p:cNvPr id="12" name="Shape 9"/>
          <p:cNvSpPr/>
          <p:nvPr/>
        </p:nvSpPr>
        <p:spPr>
          <a:xfrm>
            <a:off x="4709160" y="1371600"/>
            <a:ext cx="1783080" cy="3063240"/>
          </a:xfrm>
          <a:prstGeom prst="roundRect">
            <a:avLst>
              <a:gd name="adj" fmla="val 11282"/>
            </a:avLst>
          </a:prstGeom>
          <a:solidFill>
            <a:srgbClr val="202020"/>
          </a:solidFill>
          <a:ln w="12700">
            <a:solidFill>
              <a:srgbClr val="202020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4791456" y="1609344"/>
            <a:ext cx="1618488" cy="2606040"/>
          </a:xfrm>
          <a:prstGeom prst="roundRect">
            <a:avLst>
              <a:gd name="adj" fmla="val 565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5372100" y="1463040"/>
            <a:ext cx="457200" cy="73152"/>
          </a:xfrm>
          <a:prstGeom prst="roundRect">
            <a:avLst>
              <a:gd name="adj" fmla="val 50000"/>
            </a:avLst>
          </a:prstGeom>
          <a:solidFill>
            <a:srgbClr val="505060"/>
          </a:solidFill>
          <a:ln w="12700">
            <a:solidFill>
              <a:srgbClr val="505060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5326380" y="4288536"/>
            <a:ext cx="548640" cy="54864"/>
          </a:xfrm>
          <a:prstGeom prst="roundRect">
            <a:avLst>
              <a:gd name="adj" fmla="val 50000"/>
            </a:avLst>
          </a:prstGeom>
          <a:solidFill>
            <a:srgbClr val="505060"/>
          </a:solidFill>
          <a:ln w="12700">
            <a:solidFill>
              <a:srgbClr val="505060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901184" y="1719072"/>
            <a:ext cx="1399032" cy="274320"/>
          </a:xfrm>
          <a:prstGeom prst="roundRect">
            <a:avLst>
              <a:gd name="adj" fmla="val 50000"/>
            </a:avLst>
          </a:prstGeom>
          <a:solidFill>
            <a:srgbClr val="00686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ur-PK" alt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گروپ 14</a:t>
            </a:r>
            <a:endParaRPr lang="ur-PK" sz="1000" dirty="0"/>
          </a:p>
        </p:txBody>
      </p:sp>
      <p:sp>
        <p:nvSpPr>
          <p:cNvPr id="17" name="Text 14"/>
          <p:cNvSpPr txBox="1"/>
          <p:nvPr/>
        </p:nvSpPr>
        <p:spPr>
          <a:xfrm>
            <a:off x="4901184" y="2066544"/>
            <a:ext cx="13990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ur-PK" altLang="en-US" sz="750" dirty="0">
                <a:solidFill>
                  <a:srgbClr val="5050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انتظار کا مقام B2 · خواتین 08:20</a:t>
            </a:r>
            <a:endParaRPr lang="ur-PK" sz="750" dirty="0"/>
          </a:p>
        </p:txBody>
      </p:sp>
      <p:sp>
        <p:nvSpPr>
          <p:cNvPr id="18" name="Text 15"/>
          <p:cNvSpPr txBox="1"/>
          <p:nvPr/>
        </p:nvSpPr>
        <p:spPr>
          <a:xfrm>
            <a:off x="4901184" y="2340864"/>
            <a:ext cx="13990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ur-PK" altLang="en-US" sz="800" dirty="0">
                <a:solidFill>
                  <a:srgbClr val="5050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تقریباً</a:t>
            </a:r>
            <a:endParaRPr lang="ur-PK" sz="800" dirty="0"/>
          </a:p>
        </p:txBody>
      </p:sp>
      <p:sp>
        <p:nvSpPr>
          <p:cNvPr id="19" name="Text 16"/>
          <p:cNvSpPr txBox="1"/>
          <p:nvPr/>
        </p:nvSpPr>
        <p:spPr>
          <a:xfrm>
            <a:off x="4901184" y="2523744"/>
            <a:ext cx="1399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altLang="en-US" sz="2600" b="1" dirty="0">
                <a:solidFill>
                  <a:srgbClr val="0068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12–18</a:t>
            </a:r>
            <a:endParaRPr lang="en-US" sz="2600" dirty="0"/>
          </a:p>
        </p:txBody>
      </p:sp>
      <p:sp>
        <p:nvSpPr>
          <p:cNvPr id="20" name="Text 17"/>
          <p:cNvSpPr txBox="1"/>
          <p:nvPr/>
        </p:nvSpPr>
        <p:spPr>
          <a:xfrm>
            <a:off x="4901184" y="2980944"/>
            <a:ext cx="13990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ur-PK" altLang="en-US" sz="800" dirty="0">
                <a:solidFill>
                  <a:srgbClr val="5050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منٹ</a:t>
            </a:r>
            <a:endParaRPr lang="ur-PK" sz="800" dirty="0"/>
          </a:p>
        </p:txBody>
      </p:sp>
      <p:sp>
        <p:nvSpPr>
          <p:cNvPr id="21" name="Shape 18"/>
          <p:cNvSpPr/>
          <p:nvPr/>
        </p:nvSpPr>
        <p:spPr>
          <a:xfrm>
            <a:off x="4901184" y="3255264"/>
            <a:ext cx="1399032" cy="566928"/>
          </a:xfrm>
          <a:prstGeom prst="roundRect">
            <a:avLst>
              <a:gd name="adj" fmla="val 12903"/>
            </a:avLst>
          </a:prstGeom>
          <a:solidFill>
            <a:srgbClr val="E9F4F1"/>
          </a:solidFill>
          <a:ln w="12700">
            <a:solidFill>
              <a:srgbClr val="E9F4F1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5897880" y="3374136"/>
            <a:ext cx="329184" cy="329184"/>
          </a:xfrm>
          <a:prstGeom prst="ellipse">
            <a:avLst/>
          </a:prstGeom>
          <a:solidFill>
            <a:srgbClr val="78C0B0"/>
          </a:solidFill>
          <a:ln w="12700">
            <a:solidFill>
              <a:srgbClr val="78C0B0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4919472" y="3310128"/>
            <a:ext cx="9235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ur-PK" altLang="en-US" sz="650" dirty="0">
                <a:solidFill>
                  <a:srgbClr val="5050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عملے کی ہدایت</a:t>
            </a:r>
            <a:endParaRPr lang="ur-PK" sz="650" dirty="0"/>
          </a:p>
        </p:txBody>
      </p:sp>
      <p:sp>
        <p:nvSpPr>
          <p:cNvPr id="24" name="Text 21"/>
          <p:cNvSpPr txBox="1"/>
          <p:nvPr/>
        </p:nvSpPr>
        <p:spPr>
          <a:xfrm>
            <a:off x="4919472" y="3483864"/>
            <a:ext cx="9235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ur-PK" altLang="en-US" sz="1000" b="1" dirty="0">
                <a:solidFill>
                  <a:srgbClr val="0068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براہ کرم بیٹھ جائیں</a:t>
            </a:r>
            <a:endParaRPr lang="ur-PK" sz="1000" dirty="0"/>
          </a:p>
        </p:txBody>
      </p:sp>
      <p:sp>
        <p:nvSpPr>
          <p:cNvPr id="25" name="Text 22"/>
          <p:cNvSpPr txBox="1"/>
          <p:nvPr/>
        </p:nvSpPr>
        <p:spPr>
          <a:xfrm>
            <a:off x="4901184" y="3913632"/>
            <a:ext cx="1399032" cy="24688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0686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ur-PK" altLang="en-US" sz="750" dirty="0">
                <a:solidFill>
                  <a:srgbClr val="0068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عملے کو دکھائیں</a:t>
            </a:r>
            <a:endParaRPr lang="ur-PK" sz="750" dirty="0"/>
          </a:p>
        </p:txBody>
      </p:sp>
      <p:sp>
        <p:nvSpPr>
          <p:cNvPr id="26" name="Shape 23"/>
          <p:cNvSpPr/>
          <p:nvPr/>
        </p:nvSpPr>
        <p:spPr>
          <a:xfrm>
            <a:off x="457200" y="1691640"/>
            <a:ext cx="3886200" cy="2423160"/>
          </a:xfrm>
          <a:prstGeom prst="roundRect">
            <a:avLst>
              <a:gd name="adj" fmla="val 6038"/>
            </a:avLst>
          </a:prstGeom>
          <a:solidFill>
            <a:srgbClr val="202020"/>
          </a:solidFill>
          <a:ln w="12700">
            <a:solidFill>
              <a:srgbClr val="202020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7" name="Shape 24"/>
          <p:cNvSpPr/>
          <p:nvPr/>
        </p:nvSpPr>
        <p:spPr>
          <a:xfrm>
            <a:off x="603504" y="1819656"/>
            <a:ext cx="3593592" cy="2167128"/>
          </a:xfrm>
          <a:prstGeom prst="roundRect">
            <a:avLst>
              <a:gd name="adj" fmla="val 253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4242816" y="2866644"/>
            <a:ext cx="73152" cy="73152"/>
          </a:xfrm>
          <a:prstGeom prst="ellipse">
            <a:avLst/>
          </a:prstGeom>
          <a:solidFill>
            <a:srgbClr val="505060"/>
          </a:solidFill>
          <a:ln w="12700">
            <a:solidFill>
              <a:srgbClr val="505060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740664" y="1911096"/>
            <a:ext cx="33192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950" b="1" dirty="0">
                <a:solidFill>
                  <a:srgbClr val="0068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نقطة الانتظار B2 · الفوج 14 · تعليمة نشطة واحدة</a:t>
            </a:r>
            <a:endParaRPr lang="ar-SA" sz="950" dirty="0"/>
          </a:p>
        </p:txBody>
      </p:sp>
      <p:sp>
        <p:nvSpPr>
          <p:cNvPr id="30" name="Text 27"/>
          <p:cNvSpPr txBox="1"/>
          <p:nvPr/>
        </p:nvSpPr>
        <p:spPr>
          <a:xfrm>
            <a:off x="2468880" y="2276856"/>
            <a:ext cx="1591056" cy="566928"/>
          </a:xfrm>
          <a:prstGeom prst="roundRect">
            <a:avLst>
              <a:gd name="adj" fmla="val 50000"/>
            </a:avLst>
          </a:prstGeom>
          <a:solidFill>
            <a:srgbClr val="006868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الرجاء الجلوس</a:t>
            </a:r>
            <a:endParaRPr lang="ar-SA" sz="1050" dirty="0"/>
          </a:p>
        </p:txBody>
      </p:sp>
      <p:sp>
        <p:nvSpPr>
          <p:cNvPr id="31" name="Text 28"/>
          <p:cNvSpPr txBox="1"/>
          <p:nvPr/>
        </p:nvSpPr>
        <p:spPr>
          <a:xfrm>
            <a:off x="740664" y="2276856"/>
            <a:ext cx="1591056" cy="56692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78C0B0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50" dirty="0">
                <a:solidFill>
                  <a:srgbClr val="0068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تقدموا بهدوء</a:t>
            </a:r>
            <a:endParaRPr lang="ar-SA" sz="1050" dirty="0"/>
          </a:p>
        </p:txBody>
      </p:sp>
      <p:sp>
        <p:nvSpPr>
          <p:cNvPr id="32" name="Text 29"/>
          <p:cNvSpPr txBox="1"/>
          <p:nvPr/>
        </p:nvSpPr>
        <p:spPr>
          <a:xfrm>
            <a:off x="2468880" y="2980944"/>
            <a:ext cx="1591056" cy="56692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78C0B0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50" dirty="0">
                <a:solidFill>
                  <a:srgbClr val="0068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انتظروا هنا</a:t>
            </a:r>
            <a:endParaRPr lang="ar-SA" sz="1050" dirty="0"/>
          </a:p>
        </p:txBody>
      </p:sp>
      <p:sp>
        <p:nvSpPr>
          <p:cNvPr id="33" name="Text 30"/>
          <p:cNvSpPr txBox="1"/>
          <p:nvPr/>
        </p:nvSpPr>
        <p:spPr>
          <a:xfrm>
            <a:off x="740664" y="2980944"/>
            <a:ext cx="1591056" cy="56692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78C0B0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50" dirty="0">
                <a:solidFill>
                  <a:srgbClr val="0068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الفوج التالي بعد 5 دقائق</a:t>
            </a:r>
            <a:endParaRPr lang="ar-SA" sz="1050" dirty="0"/>
          </a:p>
        </p:txBody>
      </p:sp>
      <p:sp>
        <p:nvSpPr>
          <p:cNvPr id="34" name="Text 31"/>
          <p:cNvSpPr txBox="1"/>
          <p:nvPr/>
        </p:nvSpPr>
        <p:spPr>
          <a:xfrm>
            <a:off x="740664" y="3575304"/>
            <a:ext cx="33192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800" dirty="0">
                <a:solidFill>
                  <a:srgbClr val="5050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ضغطة واحدة = التعليمة نفسها بعشر لغات على الهواتف والشاشة، وكل بث في سجل التدقيق.</a:t>
            </a:r>
            <a:endParaRPr lang="ar-SA" sz="800" dirty="0"/>
          </a:p>
        </p:txBody>
      </p:sp>
      <p:sp>
        <p:nvSpPr>
          <p:cNvPr id="35" name="Text 32"/>
          <p:cNvSpPr txBox="1"/>
          <p:nvPr/>
        </p:nvSpPr>
        <p:spPr>
          <a:xfrm>
            <a:off x="6583680" y="4507992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ar-SA" altLang="en-US" sz="1050" b="1" dirty="0">
                <a:solidFill>
                  <a:srgbClr val="0068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هاتف الضيفة، بالإندونيسية</a:t>
            </a:r>
            <a:endParaRPr lang="ar-SA" sz="1050" dirty="0"/>
          </a:p>
        </p:txBody>
      </p:sp>
      <p:sp>
        <p:nvSpPr>
          <p:cNvPr id="36" name="Text 33"/>
          <p:cNvSpPr txBox="1"/>
          <p:nvPr/>
        </p:nvSpPr>
        <p:spPr>
          <a:xfrm>
            <a:off x="4480560" y="4507992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ar-SA" altLang="en-US" sz="1050" b="1" dirty="0">
                <a:solidFill>
                  <a:srgbClr val="0068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هاتف ضيف، بالأردية</a:t>
            </a:r>
            <a:endParaRPr lang="ar-SA" sz="1050" dirty="0"/>
          </a:p>
        </p:txBody>
      </p:sp>
      <p:sp>
        <p:nvSpPr>
          <p:cNvPr id="37" name="Text 34"/>
          <p:cNvSpPr txBox="1"/>
          <p:nvPr/>
        </p:nvSpPr>
        <p:spPr>
          <a:xfrm>
            <a:off x="457200" y="4507992"/>
            <a:ext cx="3886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ar-SA" altLang="en-US" sz="1050" b="1" dirty="0">
                <a:solidFill>
                  <a:srgbClr val="0068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جهاز المشرف اللوحي: النداء الصامت</a:t>
            </a:r>
            <a:endParaRPr lang="ar-SA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11480"/>
            <a:ext cx="566928" cy="310896"/>
          </a:xfrm>
          <a:prstGeom prst="roundRect">
            <a:avLst>
              <a:gd name="adj" fmla="val 50000"/>
            </a:avLst>
          </a:prstGeom>
          <a:solidFill>
            <a:srgbClr val="006868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ar-SA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1188720" y="292608"/>
            <a:ext cx="7498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600" b="1" dirty="0">
                <a:solidFill>
                  <a:srgbClr val="0068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التوأم الرقمي والمؤشرات</a:t>
            </a:r>
            <a:endParaRPr lang="ar-SA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3200400" y="4846320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850" dirty="0">
                <a:solidFill>
                  <a:srgbClr val="5050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نموذج أولي لهاكاثون فكّر للحرمين 2026، ليس منتجاً رسمياً للهيئة</a:t>
            </a:r>
            <a:endParaRPr lang="ar-SA" sz="85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4023360" y="960120"/>
          <a:ext cx="4663440" cy="3063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 txBox="1"/>
          <p:nvPr/>
        </p:nvSpPr>
        <p:spPr>
          <a:xfrm>
            <a:off x="4023360" y="4069080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" dirty="0">
                <a:solidFill>
                  <a:srgbClr val="5050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نتائج محاكاة توضيحية، تُستبدل بأرقام التوأم المعاير بقياسات ميدانية من المسجد النبوي.</a:t>
            </a:r>
            <a:endParaRPr lang="ar-SA" sz="95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96012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400" b="1" dirty="0">
                <a:solidFill>
                  <a:srgbClr val="0068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المؤشرات الثلاثة</a:t>
            </a:r>
            <a:endParaRPr lang="ar-SA" sz="14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25880"/>
          <a:ext cx="329184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960120"/>
                <a:gridCol w="1600200"/>
              </a:tblGrid>
              <a:tr h="310896"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ar-SA" alt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الهدف</a:t>
                      </a:r>
                      <a:endParaRPr lang="ar-SA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CE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868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ar-SA" alt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الأساس</a:t>
                      </a:r>
                      <a:endParaRPr lang="ar-SA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CE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868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ar-SA" alt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المؤشر</a:t>
                      </a:r>
                      <a:endParaRPr lang="ar-SA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CE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86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altLang="en-US" sz="1000" b="1" dirty="0">
                          <a:solidFill>
                            <a:srgbClr val="00686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≥ 90%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CE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ar-SA" altLang="en-US" sz="1000" dirty="0">
                          <a:solidFill>
                            <a:srgbClr val="2020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غير مقاس</a:t>
                      </a:r>
                      <a:endParaRPr lang="ar-SA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CE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ar-SA" altLang="en-US" sz="1000" dirty="0">
                          <a:solidFill>
                            <a:srgbClr val="2020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ضيوف يعرفون البوابة ونقطة التجمع قبل الوصول</a:t>
                      </a:r>
                      <a:endParaRPr lang="ar-SA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CE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altLang="en-US" sz="1000" b="1" dirty="0">
                          <a:solidFill>
                            <a:srgbClr val="00686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CE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ar-SA" altLang="en-US" sz="1000" dirty="0">
                          <a:solidFill>
                            <a:srgbClr val="2020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2–3، يُقاس ميدانياً</a:t>
                      </a:r>
                      <a:endParaRPr lang="ar-SA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CE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ar-SA" altLang="en-US" sz="1000" dirty="0">
                          <a:solidFill>
                            <a:srgbClr val="2020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مرات التحقق لكل ضيف</a:t>
                      </a:r>
                      <a:endParaRPr lang="ar-SA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CE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altLang="en-US" sz="1000" b="1" dirty="0">
                          <a:solidFill>
                            <a:srgbClr val="00686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−50%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CE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ar-SA" altLang="en-US" sz="1000" dirty="0">
                          <a:solidFill>
                            <a:srgbClr val="2020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يُقاس ميدانياً</a:t>
                      </a:r>
                      <a:endParaRPr lang="ar-SA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CE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ar-SA" altLang="en-US" sz="1000" dirty="0">
                          <a:solidFill>
                            <a:srgbClr val="2020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تباين سرعة التحقق عند الممرات</a:t>
                      </a:r>
                      <a:endParaRPr lang="ar-SA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CE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 5"/>
          <p:cNvSpPr txBox="1"/>
          <p:nvPr/>
        </p:nvSpPr>
        <p:spPr>
          <a:xfrm>
            <a:off x="457200" y="3154680"/>
            <a:ext cx="3291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050" dirty="0">
                <a:solidFill>
                  <a:srgbClr val="5050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المؤشرات تُشتق من أحداث الأفواج فقط: لا كاميرات ولا تتبع أفراد. غرفة القرار ترى إشغال كل نقطة انتظار، وتدفق التحقق لكل مسار، وتنبيه التباطؤ الفوري.</a:t>
            </a:r>
            <a:endParaRPr lang="ar-SA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11480"/>
            <a:ext cx="566928" cy="310896"/>
          </a:xfrm>
          <a:prstGeom prst="roundRect">
            <a:avLst>
              <a:gd name="adj" fmla="val 50000"/>
            </a:avLst>
          </a:prstGeom>
          <a:solidFill>
            <a:srgbClr val="006868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ar-SA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1188720" y="292608"/>
            <a:ext cx="7498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400" b="1" dirty="0">
                <a:solidFill>
                  <a:srgbClr val="0068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التجربة مع الهيئة: ما هو حقيقي وما هو محاكاة</a:t>
            </a:r>
            <a:endParaRPr lang="ar-SA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3200400" y="4846320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850" dirty="0">
                <a:solidFill>
                  <a:srgbClr val="5050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نموذج أولي لهاكاثون فكّر للحرمين 2026، ليس منتجاً رسمياً للهيئة</a:t>
            </a:r>
            <a:endParaRPr lang="ar-SA" sz="850" dirty="0"/>
          </a:p>
        </p:txBody>
      </p:sp>
      <p:sp>
        <p:nvSpPr>
          <p:cNvPr id="5" name="Text 3"/>
          <p:cNvSpPr txBox="1"/>
          <p:nvPr/>
        </p:nvSpPr>
        <p:spPr>
          <a:xfrm>
            <a:off x="8183880" y="987552"/>
            <a:ext cx="502920" cy="310896"/>
          </a:xfrm>
          <a:prstGeom prst="roundRect">
            <a:avLst>
              <a:gd name="adj" fmla="val 50000"/>
            </a:avLst>
          </a:prstGeom>
          <a:solidFill>
            <a:srgbClr val="006868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ar-SA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6035040" y="969264"/>
            <a:ext cx="20299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250" b="1" dirty="0">
                <a:solidFill>
                  <a:srgbClr val="0068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نقطة انتظار واحدة</a:t>
            </a:r>
            <a:endParaRPr lang="ar-SA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5394960" y="987552"/>
            <a:ext cx="502920" cy="310896"/>
          </a:xfrm>
          <a:prstGeom prst="roundRect">
            <a:avLst>
              <a:gd name="adj" fmla="val 50000"/>
            </a:avLst>
          </a:prstGeom>
          <a:solidFill>
            <a:srgbClr val="006868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ar-SA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3246120" y="969264"/>
            <a:ext cx="20299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250" b="1" dirty="0">
                <a:solidFill>
                  <a:srgbClr val="0068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أسبوع، فوج مقابل فوج</a:t>
            </a:r>
            <a:endParaRPr lang="ar-SA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2606040" y="987552"/>
            <a:ext cx="502920" cy="310896"/>
          </a:xfrm>
          <a:prstGeom prst="roundRect">
            <a:avLst>
              <a:gd name="adj" fmla="val 50000"/>
            </a:avLst>
          </a:prstGeom>
          <a:solidFill>
            <a:srgbClr val="006868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ar-SA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969264"/>
            <a:ext cx="20299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250" b="1" dirty="0">
                <a:solidFill>
                  <a:srgbClr val="0068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مؤشرات معلنة قبل البدء</a:t>
            </a:r>
            <a:endParaRPr lang="ar-SA" sz="1250" dirty="0"/>
          </a:p>
        </p:txBody>
      </p:sp>
      <p:sp>
        <p:nvSpPr>
          <p:cNvPr id="11" name="Shape 9"/>
          <p:cNvSpPr/>
          <p:nvPr/>
        </p:nvSpPr>
        <p:spPr>
          <a:xfrm>
            <a:off x="6080760" y="1508760"/>
            <a:ext cx="2606040" cy="3108960"/>
          </a:xfrm>
          <a:prstGeom prst="roundRect">
            <a:avLst>
              <a:gd name="adj" fmla="val 4912"/>
            </a:avLst>
          </a:prstGeom>
          <a:solidFill>
            <a:srgbClr val="006868"/>
          </a:solidFill>
          <a:ln w="12700">
            <a:solidFill>
              <a:srgbClr val="006868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263640" y="1645920"/>
            <a:ext cx="2240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حقيقي</a:t>
            </a:r>
            <a:endParaRPr lang="ar-SA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6263640" y="2148840"/>
            <a:ext cx="22402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marL="342900" indent="-342900">
              <a:spcAft>
                <a:spcPts val="700"/>
              </a:spcAft>
              <a:buSzPct val="100000"/>
              <a:buChar char="•"/>
            </a:pPr>
            <a:r>
              <a:rPr lang="ar-SA" alt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محرك ساعة الفوج وتقدير المدى الزمني</a:t>
            </a:r>
            <a:endParaRPr lang="ar-SA" sz="1200" dirty="0"/>
          </a:p>
          <a:p>
            <a:pPr algn="r" marL="342900" indent="-342900">
              <a:spcAft>
                <a:spcPts val="700"/>
              </a:spcAft>
              <a:buSzPct val="100000"/>
              <a:buChar char="•"/>
            </a:pPr>
            <a:r>
              <a:rPr lang="ar-SA" alt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التصريح الموقّع والتحقق منه دون اتصال</a:t>
            </a:r>
            <a:endParaRPr lang="ar-SA" sz="1200" dirty="0"/>
          </a:p>
          <a:p>
            <a:pPr algn="r" marL="342900" indent="-342900">
              <a:spcAft>
                <a:spcPts val="700"/>
              </a:spcAft>
              <a:buSzPct val="100000"/>
              <a:buChar char="•"/>
            </a:pPr>
            <a:r>
              <a:rPr lang="ar-SA" alt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النداء الصامت وبطاقات «أرني» وبطاقة التهيئة</a:t>
            </a:r>
            <a:endParaRPr lang="ar-SA" sz="1200" dirty="0"/>
          </a:p>
          <a:p>
            <a:pPr algn="r" marL="342900" indent="-342900">
              <a:spcAft>
                <a:spcPts val="700"/>
              </a:spcAft>
              <a:buSzPct val="100000"/>
              <a:buChar char="•"/>
            </a:pPr>
            <a:r>
              <a:rPr lang="ar-SA" alt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المؤشرات والتوأم الرقمي</a:t>
            </a:r>
            <a:endParaRPr lang="ar-SA" sz="1200" dirty="0"/>
          </a:p>
          <a:p>
            <a:pPr algn="r" marL="342900" indent="-342900">
              <a:spcAft>
                <a:spcPts val="700"/>
              </a:spcAft>
              <a:buSzPct val="100000"/>
              <a:buChar char="•"/>
            </a:pPr>
            <a:r>
              <a:rPr lang="ar-SA" alt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كود يعمل ومختبَر</a:t>
            </a:r>
            <a:endParaRPr lang="ar-SA" sz="1200" dirty="0"/>
          </a:p>
        </p:txBody>
      </p:sp>
      <p:sp>
        <p:nvSpPr>
          <p:cNvPr id="14" name="Shape 12"/>
          <p:cNvSpPr/>
          <p:nvPr/>
        </p:nvSpPr>
        <p:spPr>
          <a:xfrm>
            <a:off x="3268980" y="1508760"/>
            <a:ext cx="2606040" cy="3108960"/>
          </a:xfrm>
          <a:prstGeom prst="roundRect">
            <a:avLst>
              <a:gd name="adj" fmla="val 4912"/>
            </a:avLst>
          </a:prstGeom>
          <a:solidFill>
            <a:srgbClr val="A0D0C8"/>
          </a:solidFill>
          <a:ln w="12700">
            <a:solidFill>
              <a:srgbClr val="A0D0C8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3451860" y="1645920"/>
            <a:ext cx="2240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600" b="1" dirty="0">
                <a:solidFill>
                  <a:srgbClr val="0068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محاكاة معلنة</a:t>
            </a:r>
            <a:endParaRPr lang="ar-SA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3451860" y="2148840"/>
            <a:ext cx="22402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marL="342900" indent="-342900">
              <a:spcAft>
                <a:spcPts val="700"/>
              </a:spcAft>
              <a:buSzPct val="100000"/>
              <a:buChar char="•"/>
            </a:pPr>
            <a:r>
              <a:rPr lang="ar-SA" altLang="en-US" sz="1200" dirty="0">
                <a:solidFill>
                  <a:srgbClr val="202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مصدر أوقات التصاريح واللغة (نسك) خلف واجهة تكامل</a:t>
            </a:r>
            <a:endParaRPr lang="ar-SA" sz="1200" dirty="0"/>
          </a:p>
          <a:p>
            <a:pPr algn="r" marL="342900" indent="-342900">
              <a:spcAft>
                <a:spcPts val="700"/>
              </a:spcAft>
              <a:buSzPct val="100000"/>
              <a:buChar char="•"/>
            </a:pPr>
            <a:r>
              <a:rPr lang="ar-SA" altLang="en-US" sz="1200" dirty="0">
                <a:solidFill>
                  <a:srgbClr val="202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أزمنة المراحل ونسب التدفق قبل القياس الميداني</a:t>
            </a:r>
            <a:endParaRPr lang="ar-SA" sz="1200" dirty="0"/>
          </a:p>
          <a:p>
            <a:pPr algn="r" marL="342900" indent="-342900">
              <a:spcAft>
                <a:spcPts val="700"/>
              </a:spcAft>
              <a:buSzPct val="100000"/>
              <a:buChar char="•"/>
            </a:pPr>
            <a:r>
              <a:rPr lang="ar-SA" altLang="en-US" sz="1200" dirty="0">
                <a:solidFill>
                  <a:srgbClr val="202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بيانات التصاريح في النموذج الأولي</a:t>
            </a:r>
            <a:endParaRPr lang="ar-SA" sz="1200" dirty="0"/>
          </a:p>
          <a:p>
            <a:pPr algn="r" marL="342900" indent="-342900">
              <a:spcAft>
                <a:spcPts val="700"/>
              </a:spcAft>
              <a:buSzPct val="100000"/>
              <a:buChar char="•"/>
            </a:pPr>
            <a:r>
              <a:rPr lang="ar-SA" altLang="en-US" sz="1200" dirty="0">
                <a:solidFill>
                  <a:srgbClr val="202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أرقام الأثر في هذا العرض حتى تُقاس</a:t>
            </a:r>
            <a:endParaRPr lang="ar-SA" sz="1200" dirty="0"/>
          </a:p>
        </p:txBody>
      </p:sp>
      <p:sp>
        <p:nvSpPr>
          <p:cNvPr id="17" name="Shape 15"/>
          <p:cNvSpPr/>
          <p:nvPr/>
        </p:nvSpPr>
        <p:spPr>
          <a:xfrm>
            <a:off x="457200" y="1508760"/>
            <a:ext cx="2606040" cy="3108960"/>
          </a:xfrm>
          <a:prstGeom prst="roundRect">
            <a:avLst>
              <a:gd name="adj" fmla="val 4912"/>
            </a:avLst>
          </a:prstGeom>
          <a:solidFill>
            <a:srgbClr val="FFFFFF"/>
          </a:solidFill>
          <a:ln w="19050">
            <a:solidFill>
              <a:srgbClr val="C9A24D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40080" y="1645920"/>
            <a:ext cx="2240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600" b="1" dirty="0">
                <a:solidFill>
                  <a:srgbClr val="0068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يحتاج الهيئة</a:t>
            </a:r>
            <a:endParaRPr lang="ar-SA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640080" y="2148840"/>
            <a:ext cx="22402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marL="342900" indent="-342900">
              <a:spcAft>
                <a:spcPts val="700"/>
              </a:spcAft>
              <a:buSzPct val="100000"/>
              <a:buChar char="•"/>
            </a:pPr>
            <a:r>
              <a:rPr lang="ar-SA" altLang="en-US" sz="1200" dirty="0">
                <a:solidFill>
                  <a:srgbClr val="5050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صياغة «موعدك محفوظ» وسياسة إعادة التفويج للمتأخرين</a:t>
            </a:r>
            <a:endParaRPr lang="ar-SA" sz="1200" dirty="0"/>
          </a:p>
          <a:p>
            <a:pPr algn="r" marL="342900" indent="-342900">
              <a:spcAft>
                <a:spcPts val="700"/>
              </a:spcAft>
              <a:buSzPct val="100000"/>
              <a:buChar char="•"/>
            </a:pPr>
            <a:r>
              <a:rPr lang="ar-SA" altLang="en-US" sz="1200" dirty="0">
                <a:solidFill>
                  <a:srgbClr val="5050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نصوص الآداب والتهيئة من منشورات الهيئة فقط</a:t>
            </a:r>
            <a:endParaRPr lang="ar-SA" sz="1200" dirty="0"/>
          </a:p>
          <a:p>
            <a:pPr algn="r" marL="342900" indent="-342900">
              <a:spcAft>
                <a:spcPts val="700"/>
              </a:spcAft>
              <a:buSzPct val="100000"/>
              <a:buChar char="•"/>
            </a:pPr>
            <a:r>
              <a:rPr lang="ar-SA" altLang="en-US" sz="1200" dirty="0">
                <a:solidFill>
                  <a:srgbClr val="5050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إذن الرصد الميداني ونقطة انتظار للتجربة</a:t>
            </a:r>
            <a:endParaRPr lang="ar-SA" sz="1200" dirty="0"/>
          </a:p>
          <a:p>
            <a:pPr algn="r" marL="342900" indent="-342900">
              <a:spcAft>
                <a:spcPts val="700"/>
              </a:spcAft>
              <a:buSzPct val="100000"/>
              <a:buChar char="•"/>
            </a:pPr>
            <a:r>
              <a:rPr lang="ar-SA" altLang="en-US" sz="1200" dirty="0">
                <a:solidFill>
                  <a:srgbClr val="5050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ربط لاحق بمصدر أوقات التصاريح</a:t>
            </a:r>
            <a:endParaRPr lang="ar-SA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0686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11480"/>
            <a:ext cx="566928" cy="310896"/>
          </a:xfrm>
          <a:prstGeom prst="roundRect">
            <a:avLst>
              <a:gd name="adj" fmla="val 50000"/>
            </a:avLst>
          </a:prstGeom>
          <a:solidFill>
            <a:srgbClr val="78C0B0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" b="1" dirty="0">
                <a:solidFill>
                  <a:srgbClr val="0068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ar-SA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1188720" y="292608"/>
            <a:ext cx="7498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الفريق والخطوة التالية</a:t>
            </a:r>
            <a:endParaRPr lang="ar-SA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3200400" y="4846320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850" dirty="0">
                <a:solidFill>
                  <a:srgbClr val="A0D0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نموذج أولي لهاكاثون فكّر للحرمين 2026، ليس منتجاً رسمياً للهيئة</a:t>
            </a:r>
            <a:endParaRPr lang="ar-SA" sz="85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91440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ar-SA" alt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عبدالعزيز أحمد حجار، قائد الفريق: </a:t>
            </a:r>
            <a:pPr algn="r" indent="0" marL="0">
              <a:buNone/>
            </a:pPr>
            <a:r>
              <a:rPr lang="ar-SA" alt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طالب أمن سيبراني في جامعة الأمير مقرن بالمدينة المنورة، قاد فريق «رؤية بلس» في هاكاثون أمد 2026 وبنى «رفيق» بـ 29 واجهة برمجية و89 اختباراً وواجهة عربية تعمل دون اتصال.</a:t>
            </a:r>
            <a:endParaRPr lang="ar-SA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4572000" y="178308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A0D0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الفريق: 4 أعضاء</a:t>
            </a:r>
            <a:endParaRPr lang="ar-SA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8229600" y="2148840"/>
            <a:ext cx="457200" cy="292608"/>
          </a:xfrm>
          <a:prstGeom prst="roundRect">
            <a:avLst>
              <a:gd name="adj" fmla="val 50000"/>
            </a:avLst>
          </a:prstGeom>
          <a:solidFill>
            <a:srgbClr val="78C0B0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00" b="1" dirty="0">
                <a:solidFill>
                  <a:srgbClr val="0068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ar-SA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4572000" y="2130552"/>
            <a:ext cx="3520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واجهات وتجربة مستخدم</a:t>
            </a:r>
            <a:endParaRPr lang="ar-SA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8229600" y="2551176"/>
            <a:ext cx="457200" cy="292608"/>
          </a:xfrm>
          <a:prstGeom prst="roundRect">
            <a:avLst>
              <a:gd name="adj" fmla="val 50000"/>
            </a:avLst>
          </a:prstGeom>
          <a:solidFill>
            <a:srgbClr val="78C0B0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00" b="1" dirty="0">
                <a:solidFill>
                  <a:srgbClr val="0068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ar-SA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4572000" y="2532888"/>
            <a:ext cx="3520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رصد ميداني في مسار النساء ومقابلات الزائرات</a:t>
            </a:r>
            <a:endParaRPr lang="ar-SA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8229600" y="2953512"/>
            <a:ext cx="457200" cy="292608"/>
          </a:xfrm>
          <a:prstGeom prst="roundRect">
            <a:avLst>
              <a:gd name="adj" fmla="val 50000"/>
            </a:avLst>
          </a:prstGeom>
          <a:solidFill>
            <a:srgbClr val="78C0B0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00" b="1" dirty="0">
                <a:solidFill>
                  <a:srgbClr val="0068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ar-SA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0" y="2935224"/>
            <a:ext cx="3520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محتوى شرعي وتاريخي ولغات</a:t>
            </a:r>
            <a:endParaRPr lang="ar-SA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229600" y="3355848"/>
            <a:ext cx="457200" cy="292608"/>
          </a:xfrm>
          <a:prstGeom prst="roundRect">
            <a:avLst>
              <a:gd name="adj" fmla="val 50000"/>
            </a:avLst>
          </a:prstGeom>
          <a:solidFill>
            <a:srgbClr val="78C0B0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00" b="1" dirty="0">
                <a:solidFill>
                  <a:srgbClr val="0068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ar-SA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4572000" y="3337560"/>
            <a:ext cx="3520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بحث ميداني وبيانات للتوأم الرقمي</a:t>
            </a:r>
            <a:endParaRPr lang="ar-SA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0" y="3767328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050" dirty="0">
                <a:solidFill>
                  <a:srgbClr val="A0D0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ميزة الفريق: نقيم في المدينة المنورة، نرصد نقاط الفرز يومياً ونختبر النموذج مع الزوار في الساحات.</a:t>
            </a:r>
            <a:endParaRPr lang="ar-SA" sz="1050" dirty="0"/>
          </a:p>
        </p:txBody>
      </p:sp>
      <p:sp>
        <p:nvSpPr>
          <p:cNvPr id="16" name="Shape 14"/>
          <p:cNvSpPr/>
          <p:nvPr/>
        </p:nvSpPr>
        <p:spPr>
          <a:xfrm>
            <a:off x="457200" y="1783080"/>
            <a:ext cx="3749040" cy="246888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40080" y="1901952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400" b="1" dirty="0">
                <a:solidFill>
                  <a:srgbClr val="0068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ما نحتاجه من الهيئة</a:t>
            </a:r>
            <a:endParaRPr lang="ar-SA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3566160" y="2377440"/>
            <a:ext cx="457200" cy="292608"/>
          </a:xfrm>
          <a:prstGeom prst="roundRect">
            <a:avLst>
              <a:gd name="adj" fmla="val 50000"/>
            </a:avLst>
          </a:prstGeom>
          <a:solidFill>
            <a:srgbClr val="006868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ar-SA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640080" y="2322576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150" dirty="0">
                <a:solidFill>
                  <a:srgbClr val="5050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إذن رصد ميداني في ساحات المسجد النبوي</a:t>
            </a:r>
            <a:endParaRPr lang="ar-SA" sz="1150" dirty="0"/>
          </a:p>
        </p:txBody>
      </p:sp>
      <p:sp>
        <p:nvSpPr>
          <p:cNvPr id="20" name="Text 18"/>
          <p:cNvSpPr txBox="1"/>
          <p:nvPr/>
        </p:nvSpPr>
        <p:spPr>
          <a:xfrm>
            <a:off x="3566160" y="2944368"/>
            <a:ext cx="457200" cy="292608"/>
          </a:xfrm>
          <a:prstGeom prst="roundRect">
            <a:avLst>
              <a:gd name="adj" fmla="val 50000"/>
            </a:avLst>
          </a:prstGeom>
          <a:solidFill>
            <a:srgbClr val="006868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ar-SA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640080" y="2889504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150" dirty="0">
                <a:solidFill>
                  <a:srgbClr val="5050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نقطة انتظار واحدة لمدة أسبوع، فوج مقابل فوج</a:t>
            </a:r>
            <a:endParaRPr lang="ar-SA" sz="1150" dirty="0"/>
          </a:p>
        </p:txBody>
      </p:sp>
      <p:sp>
        <p:nvSpPr>
          <p:cNvPr id="22" name="Text 20"/>
          <p:cNvSpPr txBox="1"/>
          <p:nvPr/>
        </p:nvSpPr>
        <p:spPr>
          <a:xfrm>
            <a:off x="3566160" y="3511296"/>
            <a:ext cx="457200" cy="292608"/>
          </a:xfrm>
          <a:prstGeom prst="roundRect">
            <a:avLst>
              <a:gd name="adj" fmla="val 50000"/>
            </a:avLst>
          </a:prstGeom>
          <a:solidFill>
            <a:srgbClr val="006868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ar-SA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640080" y="3456432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150" dirty="0">
                <a:solidFill>
                  <a:srgbClr val="5050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اعتماد صياغة رسائل الطمأنة وسياسة إعادة التفويج</a:t>
            </a:r>
            <a:endParaRPr lang="ar-SA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457200" y="431596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200" b="1" dirty="0">
                <a:solidFill>
                  <a:srgbClr val="C9A2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موعدك محفوظ، فامشِ إليه هونًا</a:t>
            </a:r>
            <a:endParaRPr lang="ar-SA" sz="2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هَوْنًا إلى الروضة، فكّر للحرمين 2026</dc:title>
  <dc:subject>PptxGenJS Presentation</dc:subject>
  <dc:creator>فريق رؤية بلس</dc:creator>
  <cp:lastModifiedBy>فريق رؤية بلس</cp:lastModifiedBy>
  <cp:revision>1</cp:revision>
  <dcterms:created xsi:type="dcterms:W3CDTF">2026-09-17T01:54:56Z</dcterms:created>
  <dcterms:modified xsi:type="dcterms:W3CDTF">2026-09-17T01:54:56Z</dcterms:modified>
</cp:coreProperties>
</file>