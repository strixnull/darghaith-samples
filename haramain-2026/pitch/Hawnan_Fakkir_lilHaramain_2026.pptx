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686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6868"/>
                </a:solidFill>
                <a:latin typeface="Arial"/>
              </a:rPr>
              <a:t>مؤشر أحداث الضغط عند نقاط الفرز (الأساس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مؤشر أحداث الضغط</c:v>
                </c:pt>
              </c:strCache>
            </c:strRef>
          </c:tx>
          <c:spPr>
            <a:solidFill>
              <a:srgbClr val="006868"/>
            </a:solidFill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9A24D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 تحققات</c:v>
                  </c:pt>
                  <c:pt idx="1">
                    <c:v>تحقق واحد</c:v>
                  </c:pt>
                  <c:pt idx="2">
                    <c:v>نوافذ متدرجة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55</c:v>
                </c:pt>
                <c:pt idx="2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0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5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C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5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[0:00–0:25]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السلام عليكم. نحن فريق رؤية بلس من المدينة المنورة، ومشروعنا «هَوْنًا إلى الروضة».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كل يوم يصدر نحو 50,000 تصريح لزيارة الروضة الشريفة. الضيف يعرف موعده، ولا يعرف شيئاً بعده.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نحن نغطي ما بعده: من لحظة صدور التصريح حتى باب الروضة، بطبقة ميدانية صامتة تملكها الهيئة ولا تلمس نسك.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كل ما سترونه اليوم يعمل دون اتصال بالإنترنت.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[0:25–0:50]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الأرقام من نص التحدي نفسه: 50,000 تصريح يومياً، 48,000 زائر، ومتوسط انتظار 20 دقيقة قبل الدخول.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مساحة الروضة ثابتة، فلن نعد بتقصير الانتظار. المشكلة في نوعية الانتظار: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الضيف لا يعرف بوابته ولا نقطة تجمعه ولا كم بقي على دوره، ولا يفهم تعليمات الكوادر بلغته، فيتحول الانتظار إلى ترقب متوتر يدفع إلى التزاحم.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صوت الضيف في الملف الرسمي يقولها بكلماته: «وين نلاقي المسار الفوري؟»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[0:50–1:15]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هذه سيتي، 68 عاماً، إندونيسية، لا تتحدث العربية، ومعها تصريح نسك صحيح.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رحلتها اليوم ثلاث مراحل: الوصول عبر الساحات، الانتظار عند نقطة الفرز، ثم الدخول. وفي كل مرحلة مجهول: أين أذهب؟ متى دوري؟ ماذا يقول المشرف؟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والملف الرسمي يحدد سبباً مباشراً لنقاط الضغط: تفاوت سرعة التحقق من التصاريح، لأن التصريح يُقرأ 2 إلى 3 مرات في الطريق.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هذا هو الصندوق الأسود الذي نفتحه: ما بين رمز QR وباب الروضة.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[1:15–1:45]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الحل في مشهد واحد، أربع خطوات.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قبل 24 ساعة تصل رسالة الرحلة بلغة سيتي: البوابة ونقطة التجمع بالصور ووقت الانطلاق الذي يناسب كبار السن.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عند نقطة الفرز تحقق واحد فقط، ثم ختم صامت: تصريح فوج موقّع رقمياً يُتحقق منه دون اتصال في زمن ثابت.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في الانتظار بطاقة تعرض رقم فوجها ومدى زمنياً صادقاً وتعليمة المشرف مترجمة، وبطاقات «أرني» تحملها للموظف.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والمشرف يرسل نداءً صامتاً بضغطة واحدة إلى كل الهواتف والشاشات بعشر لغات، بلا مكبرات صوت.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كل هذا على محرك واحد داخل منظومة التفويج القائمة لدى الهيئة، ولا يلمس نسك.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[1:45–2:10]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أين الابتكار؟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أولاً: الطمأنة أداة لسلامة الحشود. لا نقصّر انتظاراً محكوماً بالطاقة الاستيعابية، بل نزيل المجهولات الثلاثة التي يحددها الملف سبباً للتدافع.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ثانياً: تحقق واحد وتحرك بالفوج، بدل تحققات متكررة متفاوتة السرعة.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ثالثاً: جسر لغوي صامت في الاتجاهين، من المشرف للضيف ومن الضيف للمشرف، بلا ترجمة فورية ولا نموذج لغوي وقت التشغيل.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رابعاً: محرك واحد وساعتان. ساعة الفوج الحية والتوأم الرقمي من الكود نفسه، فكل رقم نعرضه يمكن للجنة فحصه.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[2:10–2:50] العرض الحي، والحاسوب يبث نقطة اتصال محلية بلا إنترنت.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الهاتف الأول بالإندونيسية: تصل رسالة الرحلة لسيتي، بالصور والبوابة ونقطة التجمع.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عند نقطة الفرز أمسح تصريح نسك المحاكى، وهو معلن أنه محاكاة، مرة واحدة، فيظهر تصريح الفوج الموقّع على هاتفها ويُطبع ورقياً. أمسح الورقة بهاتف الموظف: تحقق دون اتصال في زمن ثابت.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بطاقة الانتظار: الفوج 14، نحو 12 إلى 18 دقيقة، والتعليمة الحالية «الرجاء الجلوس» بالإندونيسية مع رمز تصويري.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أضغط على الجهاز اللوحي «تقدموا بهدوء»، فتتغير الشاشة والهاتفان، بالإندونيسية والأردية، في الثانية نفسها، بصمت. وأرفع بطاقة «أرني»: «فقدت مجموعتي».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قبل 10 دقائق تظهر بطاقة التهيئة من محتوى الهيئة، ثم لا شيء على الشاشة داخل الروضة.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[2:50–3:20]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غرفة القرار ترى إشغال كل نقطة انتظار وتدفق التحقق وتنبيه التباطؤ، من أحداث الأفواج فقط، بلا كاميرات ولا بيانات شخصية.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والمحرك نفسه يشغّل التوأم الرقمي: يوم كامل من 50,000 تصريح، ثلاثة تحققات مقابل تحقق واحد مقابل نوافذ وصول متدرجة.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ما ترونه في الرسم أرقام توضيحية، لا نتيجة نهائية: التوأم يُعاير بقياسات ميدانية حقيقية من المسجد النبوي في المرحلة صفر، والأرقام تُقاس ولا تُفترض.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المهم أن الرقم يخرج من المحرك نفسه الذي شغّل الهاتف قبل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[3:20–3:45]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خطة التجربة مع الهيئة: نقطة انتظار واحدة، أسبوع واحد، فوج مقابل فوج، بمؤشرات معلنة مسبقاً.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وبصراحة: الحقيقي هو المحرك والتصريح الموقّع والنداء الصامت والمؤشرات والتوأم، كود يعمل ومختبَر.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المحاكاة المعلنة هي مصدر أوقات التصاريح خلف واجهة تكامل، وأزمنة المراحل قبل القياس الميداني.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وما يحتاج الهيئة: صياغة «موعدك محفوظ» وسياسة إعادة التفويج، ونصوص الآداب من منشوراتها فقط.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هذا نموذج أولي لهاكاثون، لا منتج رسمي للهيئة.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altLang="en-US" sz="1400" dirty="0">
                <a:latin typeface="Arial"/>
                <a:cs typeface="Arial"/>
              </a:rPr>
              <a:t>[3:45–4:00]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أنا عبدالعزيز حجار، طالب أمن سيبراني في جامعة الأمير مقرن بالمدينة المنورة، قدت فريق «رؤية بلس» في هاكاثون أمد 2026، ومعي فريق من 4 أعضاء بينهم عضوة تقود دراسة مسار النساء.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نقيم في المدينة، ونرصد نقاط الفرز يومياً، ونختبر النموذج مع الزوار في الساحات.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نحتاج من الهيئة ثلاثة أشياء: إذن رصد ميداني، نقطة انتظار واحدة لأسبوع، واعتماد صياغة الرسائل.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موعدك محفوظ، فامشِ إليه هونًا. شكراً لكم.</a:t>
            </a:r>
          </a:p>
          <a:p>
            <a:pPr rtl="1" algn="r"/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===== أسئلة متوقعة من اللجنة =====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1) هل تعتمدون على نسك؟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لا. التسجيل عبر ملصقات QR عند نقاط الانتظار وقوائم المشغلين وبطاقات الفنادق. الهيئة تملك الطبقة الميدانية وتجرّبها وحدها، والربط بنسك تكامل لاحق خلف واجهة PermitFeed، وهو محاكاة معلنة اليوم.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2) وجلال المكان؟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كل المحتوى ينتهي قبل الباب. لا صوت ولا أضواء ولا تلعيب. البطاقة تُعتم داخل الروضة. النصوص من منشورات الهيئة فقط. الحل يزيل مكبرات الصوت والحواجز الإضافية بدل أن يضيف أجهزة.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3) مسار النساء؟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عضوة في الفريق تقود دراسة مسار النساء: مقابلات وأزمنة منفصلة، وبطاقة «أريد موظفة» ضمن بطاقات «أرني»، ونقاط انتظار النساء تُقاس على حدة.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4) دقة الترجمة والمحتوى الشرعي؟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لا نموذج لغوي وقت التشغيل. حزم المحتوى موقّعة، والترجمات يراجعها متحدثون أصليون، ونصوص الآداب والتهيئة من الهيئة فقط، وأي إضافة تمر بمراجعة الهيئة والجهات الشرعية.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5) ماذا لو أعاد الأمن التحقق عند الباب؟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التصريح يدعم تحققاً سريعاً على مستوى الفوج: لون ورقم وتوقيع. والتوأم يحسب كلفة كل تحقق إضافي، فتقرر الهيئة بالأرقام لا بالرأي.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6) الاتصال والبطارية في الساحات؟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تطبيق ويب يعمل دون اتصال على نقطة اتصال محلية، تصريح ورقي، بطاقات «أرني» ورقية، شاشات نقاط الانتظار، وهاتف قائد المجموعة قناة ثانية.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7) البيانات الشخصية ونظام حماية البيانات (PDPL)؟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لا أسماء ولا جوازات ولا أرقام هواتف في النموذج. مرجع التصريح يُخزن مجزّأً بملح. التصريح الموقّع بلا بيانات شخصية. المؤشرات والتوأم على مستوى الفوج فقط، وسجل التدقيق متسلسل.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8) الجدول الزمني وحجم الفريق؟</a:t>
            </a:r>
          </a:p>
          <a:p>
            <a:pPr rtl="1" algn="r"/>
            <a:r>
              <a:rPr lang="ar-SA" altLang="en-US" sz="1400" dirty="0">
                <a:latin typeface="Arial"/>
                <a:cs typeface="Arial"/>
              </a:rPr>
              <a:t>المحرك يعيد استخدام هيكل «رفيق»: FastAPI، عزل الجلسات، سجل التدقيق، واجهة عربية بملف واحد. الإصدار 0 خلال أسبوعين قبل المعسكر الافتراضي، الإصدار 1 في المعسكر، والتجربة الميدانية في معسكر النموذج.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هَوْنًا إلى الروضة</a:t>
            </a:r>
            <a:endParaRPr lang="ar-SA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903720" y="17830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Hawnan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موعدك محفوظ، فامشِ إليه هونًا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للحرمين 2026 · الثقافة والقيم · تجربة زيارة الروضة الشريفة</a:t>
            </a:r>
            <a:endParaRPr lang="ar-S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رؤية بلس · جامعة الأمير مقرن، المدينة المنورة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الضيف من التصريح إلى باب الروضة</a:t>
            </a:r>
            <a:endParaRPr lang="ar-SA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411480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2953512" y="4297680"/>
            <a:ext cx="201168" cy="0"/>
          </a:xfrm>
          <a:prstGeom prst="line">
            <a:avLst/>
          </a:prstGeom>
          <a:noFill/>
          <a:ln w="19050">
            <a:solidFill>
              <a:srgbClr val="78C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86584" y="411480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2185416" y="4297680"/>
            <a:ext cx="201168" cy="0"/>
          </a:xfrm>
          <a:prstGeom prst="line">
            <a:avLst/>
          </a:prstGeom>
          <a:noFill/>
          <a:ln w="19050">
            <a:solidFill>
              <a:srgbClr val="78C0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18488" y="411480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4297680"/>
            <a:ext cx="201168" cy="0"/>
          </a:xfrm>
          <a:prstGeom prst="line">
            <a:avLst/>
          </a:prstGeom>
          <a:noFill/>
          <a:ln w="19050">
            <a:solidFill>
              <a:srgbClr val="78C0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411480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300" dirty="0"/>
          </a:p>
        </p:txBody>
      </p:sp>
      <p:sp>
        <p:nvSpPr>
          <p:cNvPr id="15" name="Shape 13"/>
          <p:cNvSpPr/>
          <p:nvPr/>
        </p:nvSpPr>
        <p:spPr>
          <a:xfrm>
            <a:off x="649224" y="4297680"/>
            <a:ext cx="201168" cy="0"/>
          </a:xfrm>
          <a:prstGeom prst="line">
            <a:avLst/>
          </a:prstGeom>
          <a:noFill/>
          <a:ln w="19050">
            <a:solidFill>
              <a:srgbClr val="C9A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" y="4114800"/>
            <a:ext cx="365760" cy="365760"/>
          </a:xfrm>
          <a:prstGeom prst="ellipse">
            <a:avLst/>
          </a:prstGeom>
          <a:solidFill>
            <a:srgbClr val="006868"/>
          </a:solidFill>
          <a:ln w="19050">
            <a:solidFill>
              <a:srgbClr val="C9A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الروضة</a:t>
            </a:r>
            <a:endParaRPr lang="ar-SA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بالأرقام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Shape 3"/>
          <p:cNvSpPr/>
          <p:nvPr/>
        </p:nvSpPr>
        <p:spPr>
          <a:xfrm>
            <a:off x="6126480" y="109728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234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تصريح يومياً لزيارة الروضة الشريفة</a:t>
            </a:r>
            <a:endParaRPr lang="ar-SA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34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زائر يومياً عبر الساحات ونقاط الفرز</a:t>
            </a:r>
            <a:endParaRPr lang="ar-SA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09728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234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6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دقيقة متوسط الانتظار قبل الدخول</a:t>
            </a:r>
            <a:endParaRPr lang="ar-SA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نص التحدي الرسمي، فكّر للحرمين 2026. مساحة الروضة ثابتة (نحو 330 م²)، فالانتظار لا يُلغى، لكنه يُفهم.</a:t>
            </a:r>
            <a:endParaRPr lang="ar-SA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4000"/>
            </a:avLst>
          </a:prstGeom>
          <a:solidFill>
            <a:srgbClr val="006868"/>
          </a:solidFill>
          <a:ln w="12700">
            <a:solidFill>
              <a:srgbClr val="0068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649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«وين نلاقي المسار الفوري؟»</a:t>
            </a:r>
            <a:endParaRPr lang="ar-SA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58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الضيف، من الملف الرسمي للتحدي: حجز خاطئ للجنس، قوائم انتظار، حجز الأسرة تحت حساب واحد، «وين نلاقي المسار الفوري»</a:t>
            </a:r>
            <a:endParaRPr lang="ar-SA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الضيف يعرف موعده، </a:t>
            </a:r>
            <a:pPr algn="r" indent="0" marL="0">
              <a:buNone/>
            </a:pPr>
            <a:r>
              <a:rPr lang="ar-SA" altLang="en-US" sz="15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يعرف شيئاً بعده.</a:t>
            </a:r>
            <a:endParaRPr lang="ar-S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الصندوق الأسود: رحلة سيتي اليوم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سيتي، 68 عاماً، إندونيسية، لا تتحدث العربية، معها تصريح نسك صحيح ولا تعرف ماذا بعده.</a:t>
            </a:r>
            <a:endParaRPr lang="ar-SA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697480"/>
          </a:xfrm>
          <a:prstGeom prst="roundRect">
            <a:avLst>
              <a:gd name="adj" fmla="val 6102"/>
            </a:avLst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الصندوق الأسود: من رمز QR إلى باب الروضة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7190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عبر الساحات</a:t>
            </a:r>
            <a:endParaRPr lang="ar-SA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816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أذهب؟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بوابة معلومة ولا نقطة تجمع، والمسار من الفندق غير مرسوم</a:t>
            </a:r>
            <a:endParaRPr lang="ar-SA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2263140"/>
            <a:ext cx="320040" cy="0"/>
          </a:xfrm>
          <a:prstGeom prst="line">
            <a:avLst/>
          </a:prstGeom>
          <a:noFill/>
          <a:ln w="25400">
            <a:solidFill>
              <a:srgbClr val="78C0B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187452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7190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الانتظار عند نقطة الفرز</a:t>
            </a:r>
            <a:endParaRPr lang="ar-SA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816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دوري؟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التصريح يُقرأ 2 إلى 3 مرات، والانتظار مفتوح بلا مدى زمني</a:t>
            </a:r>
            <a:endParaRPr lang="ar-SA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2263140"/>
            <a:ext cx="320040" cy="0"/>
          </a:xfrm>
          <a:prstGeom prst="line">
            <a:avLst/>
          </a:prstGeom>
          <a:noFill/>
          <a:ln w="25400">
            <a:solidFill>
              <a:srgbClr val="78C0B0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187452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91640" y="171907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</a:t>
            </a:r>
            <a:endParaRPr lang="ar-SA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2816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يقول المشرف؟</a:t>
            </a:r>
            <a:endParaRPr lang="ar-SA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تعليمات بمكبر صوت بلغة لا تفهمها، فتتبع الحشد</a:t>
            </a:r>
            <a:endParaRPr lang="ar-SA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مجهولات</a:t>
            </a:r>
            <a:pPr algn="r" indent="0" marL="0">
              <a:buNone/>
            </a:pPr>
            <a:r>
              <a:rPr lang="ar-SA" altLang="en-US" sz="14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تحوّل الانتظار إلى ترقب متوتر يدفع إلى التزاحم، والملف الرسمي يسمّي تفاوت سرعة التحقق سبباً مباشراً لنقاط الضغط.</a:t>
            </a:r>
            <a:endParaRPr lang="ar-SA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في مشهد واحد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Shape 3"/>
          <p:cNvSpPr/>
          <p:nvPr/>
        </p:nvSpPr>
        <p:spPr>
          <a:xfrm>
            <a:off x="1417320" y="1335024"/>
            <a:ext cx="6309360" cy="0"/>
          </a:xfrm>
          <a:prstGeom prst="line">
            <a:avLst/>
          </a:prstGeom>
          <a:noFill/>
          <a:ln w="19050">
            <a:solidFill>
              <a:srgbClr val="78C0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114300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الرحلة</a:t>
            </a:r>
            <a:endParaRPr lang="ar-SA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بلغة الضيف قبل 24 ساعة ثم 90 ثم 30 دقيقة: البوابة ونقطة التجمع بالصور ووقت الانطلاق.</a:t>
            </a:r>
            <a:endParaRPr lang="ar-SA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4300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واحد + ختم صامت</a:t>
            </a:r>
            <a:endParaRPr lang="ar-SA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يُقرأ تصريح نسك مرة واحدة، فيصدر تصريح فوج موقّع يُتحقق منه دون اتصال في زمن ثابت.</a:t>
            </a:r>
            <a:endParaRPr lang="ar-SA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14300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الانتظار</a:t>
            </a:r>
            <a:endParaRPr lang="ar-SA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الفوج، مدى زمني صادق «نحو 12–18 دقيقة»، تعليمة المشرف مترجمة، وبطاقات «أرني».</a:t>
            </a:r>
            <a:endParaRPr lang="ar-SA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114300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النداء الصامت</a:t>
            </a:r>
            <a:endParaRPr lang="ar-SA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194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ضغطة واحدة من المشرف تصل إلى الهواتف والشاشات بعشر لغات، بلا مكبرات صوت.</a:t>
            </a:r>
            <a:endParaRPr lang="ar-SA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12727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67328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 المشهد: </a:t>
            </a:r>
            <a:pPr algn="r" indent="0" marL="0">
              <a:buNone/>
            </a:pPr>
            <a:r>
              <a:rPr lang="ar-SA" altLang="en-US" sz="12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تفويج واحد يشغّل ساعة الفوج الحية والتوأم الرقمي من الكود نفسه، داخل منظومة التفويج القائمة لدى الهيئة. </a:t>
            </a:r>
            <a:pPr algn="r" indent="0" marL="0">
              <a:buNone/>
            </a:pPr>
            <a:r>
              <a:rPr lang="ar-SA" altLang="en-US" sz="125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يلمس نسك</a:t>
            </a:r>
            <a:pPr algn="r" indent="0" marL="0">
              <a:buNone/>
            </a:pPr>
            <a:r>
              <a:rPr lang="ar-SA" altLang="en-US" sz="12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ويبدأ حيث يتوقف رمز QR وينتهي عند باب الروضة. لا شيء على الشاشة داخل الروضة.</a:t>
            </a:r>
            <a:endParaRPr lang="ar-SA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الابتكارات الأربعة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Shape 3"/>
          <p:cNvSpPr/>
          <p:nvPr/>
        </p:nvSpPr>
        <p:spPr>
          <a:xfrm>
            <a:off x="4709160" y="1051560"/>
            <a:ext cx="3977640" cy="1645920"/>
          </a:xfrm>
          <a:prstGeom prst="roundRect">
            <a:avLst>
              <a:gd name="adj" fmla="val 777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45552" y="1252728"/>
            <a:ext cx="658368" cy="658368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0144" y="1435608"/>
            <a:ext cx="329184" cy="292608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527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الطمأنة أداة لسلامة الحشود</a:t>
            </a:r>
            <a:endParaRPr lang="ar-SA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842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نقصّر انتظاراً محكوماً بالطاقة الاستيعابية، بل نزيل المجهولات الثلاثة التي يحددها الملف سبباً للتدافع.</a:t>
            </a:r>
            <a:endParaRPr lang="ar-SA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3977640" cy="1645920"/>
          </a:xfrm>
          <a:prstGeom prst="roundRect">
            <a:avLst>
              <a:gd name="adj" fmla="val 777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252728"/>
            <a:ext cx="658368" cy="658368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2527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واحد وتحرك بالفوج</a:t>
            </a:r>
            <a:endParaRPr lang="ar-SA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9842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تصريح فوج موقّع يُقرأ في زمن ثابت بدل تحققات متكررة متفاوتة السرعة عند كل نقطة.</a:t>
            </a:r>
            <a:endParaRPr lang="ar-SA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3977640" cy="1645920"/>
          </a:xfrm>
          <a:prstGeom prst="roundRect">
            <a:avLst>
              <a:gd name="adj" fmla="val 777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45552" y="3127248"/>
            <a:ext cx="658368" cy="658368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46704"/>
            <a:ext cx="420624" cy="219456"/>
          </a:xfrm>
          <a:prstGeom prst="left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12724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جسر لغوي صامت في الاتجاهين</a:t>
            </a:r>
            <a:endParaRPr lang="ar-SA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8587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نداء صامت من المشرف للضيف، وبطاقات «أرني» من الضيف للمشرف، بلا ترجمة فورية ولا نموذج لغوي وقت التشغيل.</a:t>
            </a:r>
            <a:endParaRPr lang="ar-SA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77640" cy="1645920"/>
          </a:xfrm>
          <a:prstGeom prst="roundRect">
            <a:avLst>
              <a:gd name="adj" fmla="val 7778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3592" y="3127248"/>
            <a:ext cx="658368" cy="658368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82696"/>
            <a:ext cx="347472" cy="347472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12724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واحد وساعتان</a:t>
            </a:r>
            <a:endParaRPr lang="ar-SA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587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ساعة الفوج الحية والتوأم الرقمي من الكود نفسه، فكل رقم في العرض يخرج من محرك </a:t>
            </a:r>
            <a:pPr algn="r" indent="0" marL="0">
              <a:buNone/>
            </a:pPr>
            <a:r>
              <a:rPr lang="ar-SA" altLang="en-US" sz="115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للجنة فحصه.</a:t>
            </a:r>
            <a:endParaRPr lang="ar-SA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الحي: هاتفان وجهاز لوحي وشاشة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A24D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دون اتصال</a:t>
            </a:r>
            <a:endParaRPr lang="ar-SA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8686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الحاسوب يبث نقطة اتصال محلية ولا إنترنت في العرض. الشاشة والهواتف تتغير في الثانية نفسها، بصمت.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6812280" y="1371600"/>
            <a:ext cx="1783080" cy="3063240"/>
          </a:xfrm>
          <a:prstGeom prst="roundRect">
            <a:avLst>
              <a:gd name="adj" fmla="val 11282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94576" y="1609344"/>
            <a:ext cx="1618488" cy="26060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5220" y="14630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0" y="4288536"/>
            <a:ext cx="548640" cy="54864"/>
          </a:xfrm>
          <a:prstGeom prst="roundRect">
            <a:avLst>
              <a:gd name="adj" fmla="val 50000"/>
            </a:avLst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04304" y="1719072"/>
            <a:ext cx="1399032" cy="274320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d-ID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Rombongan 14</a:t>
            </a:r>
            <a:endParaRPr lang="id-ID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04304" y="20665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id-ID" altLang="en-US" sz="7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tunggu B2 · Perempuan 08:20</a:t>
            </a:r>
            <a:endParaRPr lang="id-ID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004304" y="234086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id-ID" altLang="en-US" sz="8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sekitar</a:t>
            </a:r>
            <a:endParaRPr lang="id-ID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2523744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98094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id-ID" altLang="en-US" sz="8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menit</a:t>
            </a:r>
            <a:endParaRPr lang="id-ID" sz="800" dirty="0"/>
          </a:p>
        </p:txBody>
      </p:sp>
      <p:sp>
        <p:nvSpPr>
          <p:cNvPr id="16" name="Shape 14"/>
          <p:cNvSpPr/>
          <p:nvPr/>
        </p:nvSpPr>
        <p:spPr>
          <a:xfrm>
            <a:off x="7004304" y="3255264"/>
            <a:ext cx="1399032" cy="566928"/>
          </a:xfrm>
          <a:prstGeom prst="roundRect">
            <a:avLst>
              <a:gd name="adj" fmla="val 12903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3374136"/>
            <a:ext cx="329184" cy="329184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1504" y="3310128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id-ID" altLang="en-US" sz="6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Instruksi petugas</a:t>
            </a:r>
            <a:endParaRPr lang="id-ID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34838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id-ID" altLang="en-US" sz="10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Silakan duduk</a:t>
            </a:r>
            <a:endParaRPr lang="id-ID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004304" y="3913632"/>
            <a:ext cx="13990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8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d-ID" altLang="en-US" sz="750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Tunjukkan ke petugas</a:t>
            </a:r>
            <a:endParaRPr lang="id-ID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1783080" cy="3063240"/>
          </a:xfrm>
          <a:prstGeom prst="roundRect">
            <a:avLst>
              <a:gd name="adj" fmla="val 11282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91456" y="1609344"/>
            <a:ext cx="1618488" cy="26060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2100" y="14630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6380" y="4288536"/>
            <a:ext cx="548640" cy="54864"/>
          </a:xfrm>
          <a:prstGeom prst="roundRect">
            <a:avLst>
              <a:gd name="adj" fmla="val 50000"/>
            </a:avLst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01184" y="1719072"/>
            <a:ext cx="1399032" cy="274320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ur-PK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گروپ 14</a:t>
            </a:r>
            <a:endParaRPr lang="ur-PK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01184" y="20665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ur-PK" altLang="en-US" sz="7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انتظار کا مقام B2 · خواتین 08:20</a:t>
            </a:r>
            <a:endParaRPr lang="ur-PK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901184" y="234086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ur-PK" altLang="en-US" sz="8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تقریباً</a:t>
            </a:r>
            <a:endParaRPr lang="ur-PK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01184" y="2523744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901184" y="298094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ur-PK" altLang="en-US" sz="8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منٹ</a:t>
            </a:r>
            <a:endParaRPr lang="ur-PK" sz="800" dirty="0"/>
          </a:p>
        </p:txBody>
      </p:sp>
      <p:sp>
        <p:nvSpPr>
          <p:cNvPr id="30" name="Shape 28"/>
          <p:cNvSpPr/>
          <p:nvPr/>
        </p:nvSpPr>
        <p:spPr>
          <a:xfrm>
            <a:off x="4901184" y="3255264"/>
            <a:ext cx="1399032" cy="566928"/>
          </a:xfrm>
          <a:prstGeom prst="roundRect">
            <a:avLst>
              <a:gd name="adj" fmla="val 12903"/>
            </a:avLst>
          </a:prstGeom>
          <a:solidFill>
            <a:srgbClr val="E9F4F1"/>
          </a:solidFill>
          <a:ln w="12700">
            <a:solidFill>
              <a:srgbClr val="E9F4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3374136"/>
            <a:ext cx="329184" cy="329184"/>
          </a:xfrm>
          <a:prstGeom prst="ellipse">
            <a:avLst/>
          </a:prstGeom>
          <a:solidFill>
            <a:srgbClr val="78C0B0"/>
          </a:solidFill>
          <a:ln w="12700">
            <a:solidFill>
              <a:srgbClr val="78C0B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19472" y="3310128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ur-PK" altLang="en-US" sz="6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عملے کی ہدایت</a:t>
            </a:r>
            <a:endParaRPr lang="ur-PK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4919472" y="348386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ur-PK" altLang="en-US" sz="10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براہ کرم بیٹھ جائیں</a:t>
            </a:r>
            <a:endParaRPr lang="ur-PK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901184" y="3913632"/>
            <a:ext cx="13990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8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ur-PK" altLang="en-US" sz="750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عملے کو دکھائیں</a:t>
            </a:r>
            <a:endParaRPr lang="ur-PK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1691640"/>
            <a:ext cx="3886200" cy="2423160"/>
          </a:xfrm>
          <a:prstGeom prst="roundRect">
            <a:avLst>
              <a:gd name="adj" fmla="val 6038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" y="1819656"/>
            <a:ext cx="3593592" cy="216712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42816" y="2866644"/>
            <a:ext cx="73152" cy="73152"/>
          </a:xfrm>
          <a:prstGeom prst="ellipse">
            <a:avLst/>
          </a:prstGeom>
          <a:solidFill>
            <a:srgbClr val="505060"/>
          </a:solidFill>
          <a:ln w="12700">
            <a:solidFill>
              <a:srgbClr val="5050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0664" y="19110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الانتظار B2 · الفوج 14 · تعليمة نشطة واحدة</a:t>
            </a:r>
            <a:endParaRPr lang="ar-SA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2276856"/>
            <a:ext cx="1591056" cy="56692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الرجاء الجلوس</a:t>
            </a:r>
            <a:endParaRPr lang="ar-SA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40664" y="2276856"/>
            <a:ext cx="1591056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8C0B0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تقدموا بهدوء</a:t>
            </a:r>
            <a:endParaRPr lang="ar-SA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2980944"/>
            <a:ext cx="1591056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8C0B0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انتظروا هنا</a:t>
            </a:r>
            <a:endParaRPr lang="ar-SA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40664" y="2980944"/>
            <a:ext cx="1591056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8C0B0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الفوج التالي بعد 5 دقائق</a:t>
            </a:r>
            <a:endParaRPr lang="ar-SA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40664" y="3575304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ضغطة واحدة = التعليمة نفسها بعشر لغات على الهواتف والشاشة، وكل بث في سجل التدقيق.</a:t>
            </a:r>
            <a:endParaRPr lang="ar-SA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4507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 الضيفة، بالإندونيسية</a:t>
            </a:r>
            <a:endParaRPr lang="ar-SA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4507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 ضيف، بالأردية</a:t>
            </a:r>
            <a:endParaRPr lang="ar-SA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507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المشرف اللوحي: النداء الصامت</a:t>
            </a:r>
            <a:endParaRPr lang="ar-SA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التوأم الرقمي والمؤشرات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023360" y="960120"/>
          <a:ext cx="46634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02336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محاكاة توضيحية، تُستبدل بأرقام التوأم المعاير بقياسات ميدانية من المسجد النبوي.</a:t>
            </a:r>
            <a:endParaRPr lang="ar-SA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60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المؤشرات الثلاثة</a:t>
            </a:r>
            <a:endParaRPr lang="ar-SA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60120"/>
                <a:gridCol w="1600200"/>
              </a:tblGrid>
              <a:tr h="31089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الهدف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6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الأساس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6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000" b="1" dirty="0">
                          <a:solidFill>
                            <a:srgbClr val="0068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غير مقاس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ضيوف يعرفون البوابة ونقطة التجمع قبل الوصول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000" b="1" dirty="0">
                          <a:solidFill>
                            <a:srgbClr val="0068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2–3، يُقاس ميدانياً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مرات التحقق لكل ضيف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000" b="1" dirty="0">
                          <a:solidFill>
                            <a:srgbClr val="0068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يُقاس ميدانياً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تباين سرعة التحقق عند الممرات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المؤشرات تُشتق من أحداث الأفواج فقط: لا كاميرات ولا تتبع أفراد. غرفة القرار ترى إشغال كل نقطة انتظار، وتدفق التحقق لكل مسار، وتنبيه التباطؤ الفوري.</a:t>
            </a:r>
            <a:endParaRPr lang="ar-SA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التجربة مع الهيئة: ما هو حقيقي وما هو محاكاة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98755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9692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انتظار واحدة</a:t>
            </a:r>
            <a:endParaRPr lang="ar-SA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98755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9692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أسبوع، فوج مقابل فوج</a:t>
            </a:r>
            <a:endParaRPr lang="ar-SA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98755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9692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معلنة قبل البدء</a:t>
            </a:r>
            <a:endParaRPr lang="ar-SA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5087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006868"/>
          </a:solidFill>
          <a:ln w="12700">
            <a:solidFill>
              <a:srgbClr val="0068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حقيقي</a:t>
            </a:r>
            <a:endParaRPr lang="ar-SA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48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ساعة الفوج وتقدير المدى الزمني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التصريح الموقّع والتحقق منه دون اتصال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النداء الصامت وبطاقات «أرني» وبطاقة التهيئة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المؤشرات والتوأم الرقمي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يعمل ومختبَر</a:t>
            </a:r>
            <a:endParaRPr lang="ar-SA" sz="1200" dirty="0"/>
          </a:p>
        </p:txBody>
      </p:sp>
      <p:sp>
        <p:nvSpPr>
          <p:cNvPr id="14" name="Shape 12"/>
          <p:cNvSpPr/>
          <p:nvPr/>
        </p:nvSpPr>
        <p:spPr>
          <a:xfrm>
            <a:off x="3268980" y="15087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A0D0C8"/>
          </a:solidFill>
          <a:ln w="12700">
            <a:solidFill>
              <a:srgbClr val="A0D0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186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محاكاة معلنة</a:t>
            </a:r>
            <a:endParaRPr lang="ar-SA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2148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أوقات التصاريح واللغة (نسك) خلف واجهة تكامل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أزمنة المراحل ونسب التدفق قبل القياس الميداني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التصاريح في النموذج الأولي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الأثر في هذا العرض حتى تُقاس</a:t>
            </a:r>
            <a:endParaRPr lang="ar-SA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5087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C9A2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 الهيئة</a:t>
            </a:r>
            <a:endParaRPr lang="ar-SA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148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«موعدك محفوظ» وسياسة إعادة التفويج للمتأخرين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نصوص الآداب والتهيئة من منشورات الهيئة فقط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إذن الرصد الميداني ونقطة انتظار للتجربة</a:t>
            </a:r>
            <a:endParaRPr lang="ar-SA" sz="1200" dirty="0"/>
          </a:p>
          <a:p>
            <a:pPr algn="r" marL="342900" indent="-342900">
              <a:spcAft>
                <a:spcPts val="7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لاحق بمصدر أوقات التصاريح</a:t>
            </a:r>
            <a:endParaRPr lang="ar-SA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68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ar-SA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والخطوة التالية</a:t>
            </a:r>
            <a:endParaRPr lang="ar-SA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أولي لهاكاثون فكّر للحرمين 2026، ليس منتجاً رسمياً للهيئة</a:t>
            </a:r>
            <a:endParaRPr lang="ar-SA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عبدالعزيز أحمد حجار، قائد الفريق: </a:t>
            </a:r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أمن سيبراني في جامعة الأمير مقرن بالمدينة المنورة، قاد فريق «رؤية بلس» في هاكاثون أمد 2026 وبنى «رفيق» بـ 29 واجهة برمجية و89 اختباراً وواجهة عربية تعمل دون اتصال.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الفريق: 4 أعضاء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1488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305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وتجربة مستخدم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55117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328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ميداني في مسار النساء ومقابلات الزائرات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95351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352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شرعي وتاريخي ولغات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35584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78C0B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37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ميداني وبيانات للتوأم الرقمي</a:t>
            </a:r>
            <a:endParaRPr lang="ar-SA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67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A0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ميزة الفريق: نقيم في المدينة المنورة، نرصد نقاط الفرز يومياً ونختبر النموذج مع الزوار في الساحات.</a:t>
            </a:r>
            <a:endParaRPr lang="ar-SA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37490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0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نحتاجه من الهيئة</a:t>
            </a:r>
            <a:endParaRPr lang="ar-SA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3225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إذن رصد ميداني في ساحات المسجد النبوي</a:t>
            </a:r>
            <a:endParaRPr lang="ar-SA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94436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9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انتظار واحدة لمدة أسبوع، فوج مقابل فوج</a:t>
            </a:r>
            <a:endParaRPr lang="ar-SA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51129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0686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صياغة رسائل الطمأنة وسياسة إعادة التفويج</a:t>
            </a:r>
            <a:endParaRPr lang="ar-SA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موعدك محفوظ، فامشِ إليه هونًا</a:t>
            </a:r>
            <a:endParaRPr lang="ar-SA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هَوْنًا إلى الروضة، فكّر للحرمين 2026</dc:title>
  <dc:subject>PptxGenJS Presentation</dc:subject>
  <dc:creator>فريق رؤية بلس</dc:creator>
  <cp:lastModifiedBy>فريق رؤية بلس</cp:lastModifiedBy>
  <cp:revision>1</cp:revision>
  <dcterms:created xsi:type="dcterms:W3CDTF">2026-09-17T01:17:31Z</dcterms:created>
  <dcterms:modified xsi:type="dcterms:W3CDTF">2026-09-17T01:17:31Z</dcterms:modified>
</cp:coreProperties>
</file>